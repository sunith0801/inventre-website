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43"/>
        <p:guide pos="291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2984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7127"/>
                </a:solidFill>
                <a:latin typeface="Calibri" panose="020F0502020204030204"/>
              </a:rPr>
              <a:t>BOARD &amp; EXECUTIVE REVIEW  ·  JULY 2026</a:t>
            </a:r>
            <a:endParaRPr sz="11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41248" y="281635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B8B5AB"/>
                </a:solidFill>
                <a:latin typeface="Calibri" panose="020F0502020204030204"/>
              </a:rPr>
              <a:t>Enterprise Platform — Architecture &amp; Roadmap</a:t>
            </a:r>
            <a:endParaRPr sz="240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1248" y="3511296"/>
            <a:ext cx="1280160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85876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A8678"/>
                </a:solidFill>
                <a:latin typeface="Calibri" panose="020F0502020204030204"/>
              </a:rPr>
              <a:t>What runs today, and what we build next</a:t>
            </a:r>
            <a:endParaRPr sz="1500" b="0" i="1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41248" y="4572000"/>
            <a:ext cx="3108960" cy="1042415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73168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47127"/>
                </a:solidFill>
                <a:latin typeface="Calibri" panose="020F0502020204030204"/>
              </a:rPr>
              <a:t>inventre.in</a:t>
            </a:r>
            <a:endParaRPr sz="15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" y="508406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8678"/>
                </a:solidFill>
                <a:latin typeface="Calibri" panose="020F0502020204030204"/>
              </a:rPr>
              <a:t>eCommerce — live</a:t>
            </a:r>
            <a:endParaRPr sz="11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42816" y="4572000"/>
            <a:ext cx="3108960" cy="1042415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4773168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47127"/>
                </a:solidFill>
                <a:latin typeface="Calibri" panose="020F0502020204030204"/>
              </a:rPr>
              <a:t>audit.inventre.in</a:t>
            </a:r>
            <a:endParaRPr sz="15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98848" y="508406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8678"/>
                </a:solidFill>
                <a:latin typeface="Calibri" panose="020F0502020204030204"/>
              </a:rPr>
              <a:t>ERP — live</a:t>
            </a:r>
            <a:endParaRPr sz="11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44384" y="4572000"/>
            <a:ext cx="3108960" cy="1042415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416" y="4773168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8B5AB"/>
                </a:solidFill>
                <a:latin typeface="Calibri" panose="020F0502020204030204"/>
              </a:rPr>
              <a:t>Inventre NXT</a:t>
            </a:r>
            <a:endParaRPr sz="1500" b="1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0416" y="508406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8678"/>
                </a:solidFill>
                <a:latin typeface="Calibri" panose="020F0502020204030204"/>
              </a:rPr>
              <a:t>Intelligence — in build</a:t>
            </a:r>
            <a:endParaRPr sz="11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" y="5980176"/>
            <a:ext cx="10058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D3B35"/>
                </a:solidFill>
                <a:latin typeface="Calibri" panose="020F0502020204030204"/>
              </a:rPr>
              <a:t>Production figures in this deck were queried from the live systems on 20 July 2026.</a:t>
            </a:r>
            <a:endParaRPr sz="1000" b="0" i="0">
              <a:solidFill>
                <a:srgbClr val="3D3B35"/>
              </a:solidFill>
              <a:latin typeface="Calibri" panose="020F0502020204030204"/>
            </a:endParaRPr>
          </a:p>
        </p:txBody>
      </p:sp>
      <p:pic>
        <p:nvPicPr>
          <p:cNvPr id="19" name="Picture 18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74519"/>
            <a:ext cx="5303520" cy="7034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CONTENTS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What this deck covers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124358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9344"/>
            <a:ext cx="10874959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9344"/>
            <a:ext cx="44450" cy="74980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2880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47127"/>
                </a:solidFill>
                <a:latin typeface="Calibri" panose="020F0502020204030204"/>
              </a:rPr>
              <a:t>01</a:t>
            </a:r>
            <a:endParaRPr sz="17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19072" y="177393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0A0A"/>
                </a:solidFill>
                <a:latin typeface="Calibri" panose="020F0502020204030204"/>
              </a:rPr>
              <a:t>The enterprise landscape</a:t>
            </a:r>
            <a:endParaRPr sz="15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9072" y="2048256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Three platforms, and the systems that run today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2468880"/>
            <a:ext cx="10874959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468880"/>
            <a:ext cx="44450" cy="74980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688336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47127"/>
                </a:solidFill>
                <a:latin typeface="Calibri" panose="020F0502020204030204"/>
              </a:rPr>
              <a:t>02</a:t>
            </a:r>
            <a:endParaRPr sz="17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19072" y="263347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0A0A"/>
                </a:solidFill>
                <a:latin typeface="Calibri" panose="020F0502020204030204"/>
              </a:rPr>
              <a:t>How it runs today</a:t>
            </a:r>
            <a:endParaRPr sz="15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19072" y="2907792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The journey of one order, end to end, across every system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" y="3328416"/>
            <a:ext cx="10874959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328416"/>
            <a:ext cx="44450" cy="74980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54787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47127"/>
                </a:solidFill>
                <a:latin typeface="Calibri" panose="020F0502020204030204"/>
              </a:rPr>
              <a:t>03</a:t>
            </a:r>
            <a:endParaRPr sz="17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19072" y="349300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0A0A"/>
                </a:solidFill>
                <a:latin typeface="Calibri" panose="020F0502020204030204"/>
              </a:rPr>
              <a:t>Integration &amp; security</a:t>
            </a:r>
            <a:endParaRPr sz="15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19072" y="3767328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How the systems stay joined, and how they stay safe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4187952"/>
            <a:ext cx="10874959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187952"/>
            <a:ext cx="44450" cy="74980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407408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47127"/>
                </a:solidFill>
                <a:latin typeface="Calibri" panose="020F0502020204030204"/>
              </a:rPr>
              <a:t>04</a:t>
            </a:r>
            <a:endParaRPr sz="17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719072" y="435254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0A0A"/>
                </a:solidFill>
                <a:latin typeface="Calibri" panose="020F0502020204030204"/>
              </a:rPr>
              <a:t>Inventre NXT</a:t>
            </a:r>
            <a:endParaRPr sz="15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19072" y="4626864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The intelligence layer we build next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" y="5047488"/>
            <a:ext cx="10874959" cy="749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047488"/>
            <a:ext cx="44450" cy="74980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26694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47127"/>
                </a:solidFill>
                <a:latin typeface="Calibri" panose="020F0502020204030204"/>
              </a:rPr>
              <a:t>05</a:t>
            </a:r>
            <a:endParaRPr sz="17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19072" y="5212080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0A0A"/>
                </a:solidFill>
                <a:latin typeface="Calibri" panose="020F0502020204030204"/>
              </a:rPr>
              <a:t>Deployment &amp; ownership</a:t>
            </a:r>
            <a:endParaRPr sz="15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719072" y="5486400"/>
            <a:ext cx="8778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Environments, live production numbers, and what Inventre owns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01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33" name="Picture 32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71055" y="1097280"/>
            <a:ext cx="446227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0" b="1" i="0">
                <a:solidFill>
                  <a:srgbClr val="16140F"/>
                </a:solidFill>
                <a:latin typeface="Calibri" panose="020F0502020204030204"/>
              </a:rPr>
              <a:t>01</a:t>
            </a:r>
            <a:endParaRPr sz="19000" b="1" i="0">
              <a:solidFill>
                <a:srgbClr val="16140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127"/>
                </a:solidFill>
                <a:latin typeface="Calibri" panose="020F0502020204030204"/>
              </a:rPr>
              <a:t>SECTION 01</a:t>
            </a:r>
            <a:endParaRPr sz="11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2231136"/>
            <a:ext cx="1188720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05456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AF7F2"/>
                </a:solidFill>
                <a:latin typeface="Calibri" panose="020F0502020204030204"/>
              </a:rPr>
              <a:t>The enterprise landscape</a:t>
            </a:r>
            <a:endParaRPr sz="40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3456432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B5AB"/>
                </a:solidFill>
                <a:latin typeface="Calibri" panose="020F0502020204030204"/>
              </a:rPr>
              <a:t>Three platforms, one governed business.</a:t>
            </a:r>
            <a:endParaRPr sz="150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58368" y="429768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224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Two platforms are live and carrying the business today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58368" y="466344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5902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The third — the intelligence layer — is in build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8368" y="502920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9560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Every external system they depend on, named and verified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D3B35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3D3B35"/>
                </a:solidFill>
                <a:latin typeface="Calibri" panose="020F0502020204030204"/>
              </a:rPr>
              <a:t>02</a:t>
            </a:r>
            <a:endParaRPr sz="850" b="1" i="0">
              <a:solidFill>
                <a:srgbClr val="3D3B35"/>
              </a:solidFill>
              <a:latin typeface="Calibri" panose="020F0502020204030204"/>
            </a:endParaRPr>
          </a:p>
        </p:txBody>
      </p:sp>
      <p:pic>
        <p:nvPicPr>
          <p:cNvPr id="16" name="Picture 15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THE LANDSCAPE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Three platforms, one business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Each layer owns a different responsibility. Every large enterprise draws this same line.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2065263" cy="420624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901952"/>
            <a:ext cx="206526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D3B35"/>
                </a:solidFill>
                <a:latin typeface="Calibri" panose="020F0502020204030204"/>
              </a:rPr>
              <a:t>Parents</a:t>
            </a:r>
            <a:endParaRPr sz="1150" b="1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60791" y="1883664"/>
            <a:ext cx="2065263" cy="420624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0791" y="1901952"/>
            <a:ext cx="206526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D3B35"/>
                </a:solidFill>
                <a:latin typeface="Calibri" panose="020F0502020204030204"/>
              </a:rPr>
              <a:t>Students</a:t>
            </a:r>
            <a:endParaRPr sz="1150" b="1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63215" y="1883664"/>
            <a:ext cx="2065263" cy="420624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63215" y="1901952"/>
            <a:ext cx="206526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D3B35"/>
                </a:solidFill>
                <a:latin typeface="Calibri" panose="020F0502020204030204"/>
              </a:rPr>
              <a:t>Schools</a:t>
            </a:r>
            <a:endParaRPr sz="1150" b="1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65639" y="1883664"/>
            <a:ext cx="2065263" cy="420624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5639" y="1901952"/>
            <a:ext cx="206526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D3B35"/>
                </a:solidFill>
                <a:latin typeface="Calibri" panose="020F0502020204030204"/>
              </a:rPr>
              <a:t>Vendors</a:t>
            </a:r>
            <a:endParaRPr sz="1150" b="1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468063" y="1883664"/>
            <a:ext cx="2065263" cy="420624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8063" y="1901952"/>
            <a:ext cx="206526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3D3B35"/>
                </a:solidFill>
                <a:latin typeface="Calibri" panose="020F0502020204030204"/>
              </a:rPr>
              <a:t>Employees</a:t>
            </a:r>
            <a:endParaRPr sz="1150" b="1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2542032"/>
            <a:ext cx="3490874" cy="20482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542032"/>
            <a:ext cx="3490874" cy="444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2816352"/>
            <a:ext cx="294223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A0A0A"/>
                </a:solidFill>
                <a:latin typeface="Calibri" panose="020F0502020204030204"/>
              </a:rPr>
              <a:t>INVENTRE eCOMMERCE</a:t>
            </a:r>
            <a:endParaRPr sz="14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3127248"/>
            <a:ext cx="294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Customer Experience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2688" y="3401568"/>
            <a:ext cx="29422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E47127"/>
                </a:solidFill>
                <a:latin typeface="Calibri" panose="020F0502020204030204"/>
              </a:rPr>
              <a:t>31 MODULES  ·  LIVE</a:t>
            </a:r>
            <a:endParaRPr sz="9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9305" y="3712210"/>
            <a:ext cx="2776220" cy="698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D3B35"/>
                </a:solidFill>
                <a:latin typeface="Calibri" panose="020F0502020204030204"/>
              </a:rPr>
              <a:t>Orders</a:t>
            </a:r>
            <a:r>
              <a:rPr lang="en-IN" sz="1050" b="0" i="0">
                <a:solidFill>
                  <a:srgbClr val="3D3B35"/>
                </a:solidFill>
                <a:latin typeface="Calibri" panose="020F0502020204030204"/>
              </a:rPr>
              <a:t> . </a:t>
            </a:r>
            <a:r>
              <a:rPr sz="1050" b="0" i="0">
                <a:solidFill>
                  <a:srgbClr val="3D3B35"/>
                </a:solidFill>
                <a:latin typeface="Calibri" panose="020F0502020204030204"/>
              </a:rPr>
              <a:t>Registration</a:t>
            </a:r>
            <a:r>
              <a:rPr lang="en-IN" sz="1050" b="0" i="0">
                <a:solidFill>
                  <a:srgbClr val="3D3B35"/>
                </a:solidFill>
                <a:latin typeface="Calibri" panose="020F0502020204030204"/>
              </a:rPr>
              <a:t> . </a:t>
            </a:r>
            <a:r>
              <a:rPr sz="1050" b="0" i="0">
                <a:solidFill>
                  <a:srgbClr val="3D3B35"/>
                </a:solidFill>
                <a:latin typeface="Calibri" panose="020F0502020204030204"/>
              </a:rPr>
              <a:t>Payment</a:t>
            </a:r>
            <a:r>
              <a:rPr lang="en-IN" sz="1050" b="0" i="0">
                <a:solidFill>
                  <a:srgbClr val="3D3B35"/>
                </a:solidFill>
                <a:latin typeface="Calibri" panose="020F0502020204030204"/>
              </a:rPr>
              <a:t>s</a:t>
            </a:r>
            <a:endParaRPr lang="en-IN" sz="1050" b="0" i="0">
              <a:solidFill>
                <a:srgbClr val="3D3B35"/>
              </a:solidFill>
              <a:latin typeface="Calibri" panose="020F0502020204030204"/>
            </a:endParaRP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D3B35"/>
                </a:solidFill>
                <a:latin typeface="Calibri" panose="020F0502020204030204"/>
              </a:rPr>
              <a:t>Catalogue · Cart · Tracking · Returns · Notifications</a:t>
            </a:r>
            <a:endParaRPr sz="10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50410" y="2542032"/>
            <a:ext cx="3490874" cy="20482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1F6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50410" y="2542032"/>
            <a:ext cx="3490874" cy="4445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4730" y="2816352"/>
            <a:ext cx="294223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A0A0A"/>
                </a:solidFill>
                <a:latin typeface="Calibri" panose="020F0502020204030204"/>
              </a:rPr>
              <a:t>INVENTRE ERP</a:t>
            </a:r>
            <a:endParaRPr sz="14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24730" y="3127248"/>
            <a:ext cx="294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Business Operations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24730" y="3401568"/>
            <a:ext cx="29422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F6F6B"/>
                </a:solidFill>
                <a:latin typeface="Calibri" panose="020F0502020204030204"/>
              </a:rPr>
              <a:t>24 MODULES  ·  LIVE</a:t>
            </a:r>
            <a:endParaRPr sz="900" b="1" i="0">
              <a:solidFill>
                <a:srgbClr val="1F6F6B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24730" y="3712464"/>
            <a:ext cx="294223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3D3B35"/>
                </a:solidFill>
                <a:latin typeface="Calibri" panose="020F0502020204030204"/>
              </a:rPr>
              <a:t>Warehouse · Inventory · Purchase · Finance · Call Centre · CRM · Master Data · Dispatch</a:t>
            </a:r>
            <a:endParaRPr sz="10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42452" y="2542032"/>
            <a:ext cx="3490874" cy="2048256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B8B5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2452" y="2542032"/>
            <a:ext cx="3490874" cy="44450"/>
          </a:xfrm>
          <a:prstGeom prst="rect">
            <a:avLst/>
          </a:prstGeom>
          <a:solidFill>
            <a:srgbClr val="8A8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6772" y="2816352"/>
            <a:ext cx="294223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5C5950"/>
                </a:solidFill>
                <a:latin typeface="Calibri" panose="020F0502020204030204"/>
              </a:rPr>
              <a:t>INVENTRE NXT</a:t>
            </a:r>
            <a:endParaRPr sz="1450" b="1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16772" y="3127248"/>
            <a:ext cx="294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Enterprise Intelligence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16772" y="3401568"/>
            <a:ext cx="294223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8A8678"/>
                </a:solidFill>
                <a:latin typeface="Calibri" panose="020F0502020204030204"/>
              </a:rPr>
              <a:t>12 MODULES  ·  IN BUILD</a:t>
            </a:r>
            <a:endParaRPr sz="900" b="1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16772" y="3712464"/>
            <a:ext cx="2942234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8A8678"/>
                </a:solidFill>
                <a:latin typeface="Calibri" panose="020F0502020204030204"/>
              </a:rPr>
              <a:t>Analytics · Dashboards · Predictions · Executive KPIs · Parent CRM · Vendor Management</a:t>
            </a:r>
            <a:endParaRPr sz="10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58368" y="4864608"/>
            <a:ext cx="10874959" cy="786384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5010912"/>
            <a:ext cx="10143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0A0A"/>
                </a:solidFill>
                <a:latin typeface="Calibri" panose="020F0502020204030204"/>
              </a:rPr>
              <a:t>eCommerce owns the customer. ERP owns operations. NXT will own the numbers.</a:t>
            </a:r>
            <a:endParaRPr sz="15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24128" y="5340096"/>
            <a:ext cx="101434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C45A18"/>
                </a:solidFill>
                <a:latin typeface="Calibri" panose="020F0502020204030204"/>
              </a:rPr>
              <a:t>The first two are live and carrying the business today. The third is the next build.</a:t>
            </a:r>
            <a:endParaRPr sz="1200" b="0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03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40" name="Picture 39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6095847" y="3931920"/>
            <a:ext cx="3813962" cy="1435608"/>
          </a:xfrm>
          <a:prstGeom prst="line">
            <a:avLst/>
          </a:prstGeom>
          <a:ln w="22225">
            <a:solidFill>
              <a:srgbClr val="B8B5AB"/>
            </a:solidFill>
            <a:prstDash val="dash"/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095847" y="3931920"/>
            <a:ext cx="0" cy="1435608"/>
          </a:xfrm>
          <a:prstGeom prst="line">
            <a:avLst/>
          </a:prstGeom>
          <a:ln w="22225">
            <a:solidFill>
              <a:srgbClr val="FCE2D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2281885" y="3931920"/>
            <a:ext cx="3813962" cy="1435608"/>
          </a:xfrm>
          <a:prstGeom prst="line">
            <a:avLst/>
          </a:prstGeom>
          <a:ln w="22225">
            <a:solidFill>
              <a:srgbClr val="FCE2D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5847" y="3931920"/>
            <a:ext cx="3813962" cy="0"/>
          </a:xfrm>
          <a:prstGeom prst="line">
            <a:avLst/>
          </a:prstGeom>
          <a:ln w="22225">
            <a:solidFill>
              <a:srgbClr val="FCE2D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281885" y="3931920"/>
            <a:ext cx="3813962" cy="0"/>
          </a:xfrm>
          <a:prstGeom prst="line">
            <a:avLst/>
          </a:prstGeom>
          <a:ln w="22225">
            <a:solidFill>
              <a:srgbClr val="FCE2D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95847" y="2496312"/>
            <a:ext cx="3813962" cy="1435608"/>
          </a:xfrm>
          <a:prstGeom prst="line">
            <a:avLst/>
          </a:prstGeom>
          <a:ln w="22225">
            <a:solidFill>
              <a:srgbClr val="FCE2D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2281885" y="2496312"/>
            <a:ext cx="3813962" cy="1435608"/>
          </a:xfrm>
          <a:prstGeom prst="line">
            <a:avLst/>
          </a:prstGeom>
          <a:ln w="22225">
            <a:solidFill>
              <a:srgbClr val="FCE2D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095847" y="2496312"/>
            <a:ext cx="0" cy="1435608"/>
          </a:xfrm>
          <a:prstGeom prst="line">
            <a:avLst/>
          </a:prstGeom>
          <a:ln w="22225">
            <a:solidFill>
              <a:srgbClr val="FCE2D0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THE LANDSCAPE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The systems map — what runs today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The ERP shell sits at the centre. Everything else plugs into it.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72330" y="3236976"/>
            <a:ext cx="3247034" cy="1389888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0074" y="3419856"/>
            <a:ext cx="27715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47127"/>
                </a:solidFill>
                <a:latin typeface="Calibri" panose="020F0502020204030204"/>
              </a:rPr>
              <a:t>ERP Shell</a:t>
            </a:r>
            <a:endParaRPr sz="16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10074" y="3694176"/>
            <a:ext cx="277154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5C5950"/>
                </a:solidFill>
                <a:latin typeface="Calibri" panose="020F0502020204030204"/>
              </a:rPr>
              <a:t>AUDIT.INVENTRE.IN  ·  RUNS ON</a:t>
            </a:r>
            <a:endParaRPr sz="850" b="1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10074" y="3913632"/>
            <a:ext cx="277154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B8B5AB"/>
                </a:solidFill>
                <a:latin typeface="Calibri" panose="020F0502020204030204"/>
              </a:rPr>
              <a:t>Python 3.11 · FastAPI + SQLAlchemy 2 + Alembic · PostgreSQL 16 · Redis · React 18 + Vite · Docker Compose behind nginx. 75 screens, 54 staff users.</a:t>
            </a:r>
            <a:endParaRPr sz="9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72330" y="1883664"/>
            <a:ext cx="3247034" cy="12252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0074" y="2066544"/>
            <a:ext cx="27715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0A0A"/>
                </a:solidFill>
                <a:latin typeface="Calibri" panose="020F0502020204030204"/>
              </a:rPr>
              <a:t>Cloud Hosting</a:t>
            </a:r>
            <a:endParaRPr sz="13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10074" y="2304288"/>
            <a:ext cx="277154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47127"/>
                </a:solidFill>
                <a:latin typeface="Calibri" panose="020F0502020204030204"/>
              </a:rPr>
              <a:t>RUNS ON</a:t>
            </a:r>
            <a:endParaRPr sz="8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10074" y="2523744"/>
            <a:ext cx="27715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D3B35"/>
                </a:solidFill>
                <a:latin typeface="Calibri" panose="020F0502020204030204"/>
              </a:rPr>
              <a:t>Two Ubuntu 24.04 LTS servers · Docker Compose · nginx + Certbot TLS · Cloudflare R2 · nightly database backup · Grafana</a:t>
            </a:r>
            <a:endParaRPr sz="90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" y="1883664"/>
            <a:ext cx="3247034" cy="12252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066544"/>
            <a:ext cx="27715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0A0A"/>
                </a:solidFill>
                <a:latin typeface="Calibri" panose="020F0502020204030204"/>
              </a:rPr>
              <a:t>Inventre OneDrive</a:t>
            </a:r>
            <a:endParaRPr sz="13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6112" y="2304288"/>
            <a:ext cx="277154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47127"/>
                </a:solidFill>
                <a:latin typeface="Calibri" panose="020F0502020204030204"/>
              </a:rPr>
              <a:t>MICROSOFT GRAPH  ·  LIVE</a:t>
            </a:r>
            <a:endParaRPr sz="8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6112" y="2523744"/>
            <a:ext cx="27715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D3B35"/>
                </a:solidFill>
                <a:latin typeface="Calibri" panose="020F0502020204030204"/>
              </a:rPr>
              <a:t>Five shared Excel workbooks — outward, bookkit, uniform, warehouse stock — polled on a timer over OAuth.</a:t>
            </a:r>
            <a:endParaRPr sz="90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86292" y="1883664"/>
            <a:ext cx="3247034" cy="12252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4036" y="2066544"/>
            <a:ext cx="27715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0A0A"/>
                </a:solidFill>
                <a:latin typeface="Calibri" panose="020F0502020204030204"/>
              </a:rPr>
              <a:t>ERPNext</a:t>
            </a:r>
            <a:endParaRPr sz="13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24036" y="2304288"/>
            <a:ext cx="277154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47127"/>
                </a:solidFill>
                <a:latin typeface="Calibri" panose="020F0502020204030204"/>
              </a:rPr>
              <a:t>ERP.INVENTRE.IN  ·  LIVE</a:t>
            </a:r>
            <a:endParaRPr sz="8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24036" y="2523744"/>
            <a:ext cx="27715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D3B35"/>
                </a:solidFill>
                <a:latin typeface="Calibri" panose="020F0502020204030204"/>
              </a:rPr>
              <a:t>The upstream master. Frappe REST with token auth — items, customers and sales orders flow down from here.</a:t>
            </a:r>
            <a:endParaRPr sz="90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" y="3236976"/>
            <a:ext cx="3247034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19856"/>
            <a:ext cx="27715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0A0A"/>
                </a:solidFill>
                <a:latin typeface="Calibri" panose="020F0502020204030204"/>
              </a:rPr>
              <a:t>Cust Care</a:t>
            </a:r>
            <a:endParaRPr sz="13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112" y="3657600"/>
            <a:ext cx="277154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47127"/>
                </a:solidFill>
                <a:latin typeface="Calibri" panose="020F0502020204030204"/>
              </a:rPr>
              <a:t>RUNS ON</a:t>
            </a:r>
            <a:endParaRPr sz="8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6112" y="3877056"/>
            <a:ext cx="277154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D3B35"/>
                </a:solidFill>
                <a:latin typeface="Calibri" panose="020F0502020204030204"/>
              </a:rPr>
              <a:t>Portal concern intake → CON- tickets · read-only view-as-parent for agents · WhatsApp bot and cloud telephony on Tata Tele.</a:t>
            </a:r>
            <a:endParaRPr sz="90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286292" y="3236976"/>
            <a:ext cx="3247034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4036" y="3419856"/>
            <a:ext cx="27715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0A0A"/>
                </a:solidFill>
                <a:latin typeface="Calibri" panose="020F0502020204030204"/>
              </a:rPr>
              <a:t>Website</a:t>
            </a:r>
            <a:endParaRPr sz="13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24036" y="3657600"/>
            <a:ext cx="277154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47127"/>
                </a:solidFill>
                <a:latin typeface="Calibri" panose="020F0502020204030204"/>
              </a:rPr>
              <a:t>INVENTRE.IN  ·  RUNS ON</a:t>
            </a:r>
            <a:endParaRPr sz="8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24036" y="3877056"/>
            <a:ext cx="277154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D3B35"/>
                </a:solidFill>
                <a:latin typeface="Calibri" panose="020F0502020204030204"/>
              </a:rPr>
              <a:t>Next.js 15 + React 18 + TypeScript · Drizzle ORM · PostgreSQL 16 via pgbouncer · Redis 7 · CCAvenue payments · Node 20 in Docker</a:t>
            </a:r>
            <a:endParaRPr sz="90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58368" y="4754880"/>
            <a:ext cx="3247034" cy="12252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4937760"/>
            <a:ext cx="27715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0A0A"/>
                </a:solidFill>
                <a:latin typeface="Calibri" panose="020F0502020204030204"/>
              </a:rPr>
              <a:t>Zoho Inventory</a:t>
            </a:r>
            <a:endParaRPr sz="13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6112" y="5175504"/>
            <a:ext cx="277154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47127"/>
                </a:solidFill>
                <a:latin typeface="Calibri" panose="020F0502020204030204"/>
              </a:rPr>
              <a:t>PURCHASE ORDERS  ·  LIVE</a:t>
            </a:r>
            <a:endParaRPr sz="8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6112" y="5394960"/>
            <a:ext cx="27715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D3B35"/>
                </a:solidFill>
                <a:latin typeface="Calibri" panose="020F0502020204030204"/>
              </a:rPr>
              <a:t>OAuth REST sync pulling purchase orders into the stock engine. 2,231 POs across 249 vendors.</a:t>
            </a:r>
            <a:endParaRPr sz="90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472330" y="4754880"/>
            <a:ext cx="3247034" cy="122529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10074" y="4937760"/>
            <a:ext cx="27715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A0A0A"/>
                </a:solidFill>
                <a:latin typeface="Calibri" panose="020F0502020204030204"/>
              </a:rPr>
              <a:t>Couriers</a:t>
            </a:r>
            <a:endParaRPr sz="13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710074" y="5175504"/>
            <a:ext cx="277154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E47127"/>
                </a:solidFill>
                <a:latin typeface="Calibri" panose="020F0502020204030204"/>
              </a:rPr>
              <a:t>EIGHT DISPATCH CHANNELS</a:t>
            </a:r>
            <a:endParaRPr sz="8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10074" y="5394960"/>
            <a:ext cx="27715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3D3B35"/>
                </a:solidFill>
                <a:latin typeface="Calibri" panose="020F0502020204030204"/>
              </a:rPr>
              <a:t>Ekart, DTDC, S-Rocket, XpressBees, Amazon, Porter and school drops — four of them book and track by API.</a:t>
            </a:r>
            <a:endParaRPr sz="90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286292" y="4754880"/>
            <a:ext cx="3247034" cy="1225296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B8B5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24036" y="4937760"/>
            <a:ext cx="277154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A8678"/>
                </a:solidFill>
                <a:latin typeface="Calibri" panose="020F0502020204030204"/>
              </a:rPr>
              <a:t>Inventre NXT</a:t>
            </a:r>
            <a:endParaRPr sz="1300" b="1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24036" y="5175504"/>
            <a:ext cx="277154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NEXT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524036" y="5394960"/>
            <a:ext cx="277154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8A8678"/>
                </a:solidFill>
                <a:latin typeface="Calibri" panose="020F0502020204030204"/>
              </a:rPr>
              <a:t>The intelligence layer. Reads from every box on this page. In build.</a:t>
            </a:r>
            <a:endParaRPr sz="900" b="0" i="1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58368" y="6035040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Also wired in:  MyClassBoard for student and fee sync  ·  Arihant Global SMS  ·  Office 365 SMTP for parent invoices  ·  Tata Tele WhatsApp and cloud telephony.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58368" y="6199632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Solid lines are live, automated integrations. The dashed line is the platform we build next.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04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55" name="Picture 54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71055" y="1097280"/>
            <a:ext cx="446227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0" b="1" i="0">
                <a:solidFill>
                  <a:srgbClr val="16140F"/>
                </a:solidFill>
                <a:latin typeface="Calibri" panose="020F0502020204030204"/>
              </a:rPr>
              <a:t>02</a:t>
            </a:r>
            <a:endParaRPr sz="19000" b="1" i="0">
              <a:solidFill>
                <a:srgbClr val="16140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127"/>
                </a:solidFill>
                <a:latin typeface="Calibri" panose="020F0502020204030204"/>
              </a:rPr>
              <a:t>SECTION 02</a:t>
            </a:r>
            <a:endParaRPr sz="11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2231136"/>
            <a:ext cx="1188720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05456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AF7F2"/>
                </a:solidFill>
                <a:latin typeface="Calibri" panose="020F0502020204030204"/>
              </a:rPr>
              <a:t>How it runs today</a:t>
            </a:r>
            <a:endParaRPr sz="40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3456432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B5AB"/>
                </a:solidFill>
                <a:latin typeface="Calibri" panose="020F0502020204030204"/>
              </a:rPr>
              <a:t>One order, every system, no re-entry.</a:t>
            </a:r>
            <a:endParaRPr sz="150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58368" y="429768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224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The parent journey, from OTP login to delivery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58368" y="466344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5902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What the warehouse and finance do with that order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8368" y="502920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9560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Where a human still touches it — named honestly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D3B35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3D3B35"/>
                </a:solidFill>
                <a:latin typeface="Calibri" panose="020F0502020204030204"/>
              </a:rPr>
              <a:t>05</a:t>
            </a:r>
            <a:endParaRPr sz="850" b="1" i="0">
              <a:solidFill>
                <a:srgbClr val="3D3B35"/>
              </a:solidFill>
              <a:latin typeface="Calibri" panose="020F0502020204030204"/>
            </a:endParaRPr>
          </a:p>
        </p:txBody>
      </p:sp>
      <p:pic>
        <p:nvPicPr>
          <p:cNvPr id="16" name="Picture 15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END TO END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The journey of one order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One order crosses three systems. Almost none of it is re-keyed.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ECOMMERCE  ·  INVENTRE.IN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157984"/>
            <a:ext cx="2028687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157984"/>
            <a:ext cx="38100" cy="71323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12848"/>
            <a:ext cx="175436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6241F"/>
                </a:solidFill>
                <a:latin typeface="Calibri" panose="020F0502020204030204"/>
              </a:rPr>
              <a:t>Parent logs in by OTP</a:t>
            </a:r>
            <a:endParaRPr sz="1050" b="0" i="0">
              <a:solidFill>
                <a:srgbClr val="26241F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69935" y="2157984"/>
            <a:ext cx="2028687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69935" y="2157984"/>
            <a:ext cx="38100" cy="71323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4527" y="2212848"/>
            <a:ext cx="175436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6241F"/>
                </a:solidFill>
                <a:latin typeface="Calibri" panose="020F0502020204030204"/>
              </a:rPr>
              <a:t>Picks the school catalogue</a:t>
            </a:r>
            <a:endParaRPr sz="1050" b="0" i="0">
              <a:solidFill>
                <a:srgbClr val="26241F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81503" y="2157984"/>
            <a:ext cx="2028687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1503" y="2157984"/>
            <a:ext cx="38100" cy="71323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6095" y="2212848"/>
            <a:ext cx="175436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6241F"/>
                </a:solidFill>
                <a:latin typeface="Calibri" panose="020F0502020204030204"/>
              </a:rPr>
              <a:t>Cart, coupons, checkout</a:t>
            </a:r>
            <a:endParaRPr sz="1050" b="0" i="0">
              <a:solidFill>
                <a:srgbClr val="26241F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93071" y="2157984"/>
            <a:ext cx="2028687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93071" y="2157984"/>
            <a:ext cx="38100" cy="71323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7663" y="2212848"/>
            <a:ext cx="175436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6241F"/>
                </a:solidFill>
                <a:latin typeface="Calibri" panose="020F0502020204030204"/>
              </a:rPr>
              <a:t>Pays via CCAvenue</a:t>
            </a:r>
            <a:endParaRPr sz="1050" b="0" i="0">
              <a:solidFill>
                <a:srgbClr val="26241F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504639" y="2157984"/>
            <a:ext cx="2028687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04639" y="2157984"/>
            <a:ext cx="38100" cy="71323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69231" y="2212848"/>
            <a:ext cx="175436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6241F"/>
                </a:solidFill>
                <a:latin typeface="Calibri" panose="020F0502020204030204"/>
              </a:rPr>
              <a:t>Invoice raised, order confirmed</a:t>
            </a:r>
            <a:endParaRPr sz="1050" b="0" i="0">
              <a:solidFill>
                <a:srgbClr val="26241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" y="299923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F6F6B"/>
                </a:solidFill>
                <a:latin typeface="Calibri" panose="020F0502020204030204"/>
              </a:rPr>
              <a:t>ERP  ·  AUDIT.INVENTRE.IN</a:t>
            </a:r>
            <a:endParaRPr sz="950" b="1" i="0">
              <a:solidFill>
                <a:srgbClr val="1F6F6B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" y="3273552"/>
            <a:ext cx="2028687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273552"/>
            <a:ext cx="38100" cy="7132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328416"/>
            <a:ext cx="175436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6241F"/>
                </a:solidFill>
                <a:latin typeface="Calibri" panose="020F0502020204030204"/>
              </a:rPr>
              <a:t>Order arrives within seconds</a:t>
            </a:r>
            <a:endParaRPr sz="1050" b="0" i="0">
              <a:solidFill>
                <a:srgbClr val="26241F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869935" y="3273552"/>
            <a:ext cx="2028687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69935" y="3273552"/>
            <a:ext cx="38100" cy="7132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34527" y="3328416"/>
            <a:ext cx="175436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6241F"/>
                </a:solidFill>
                <a:latin typeface="Calibri" panose="020F0502020204030204"/>
              </a:rPr>
              <a:t>BOM-driven picking and packing</a:t>
            </a:r>
            <a:endParaRPr sz="1050" b="0" i="0">
              <a:solidFill>
                <a:srgbClr val="26241F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81503" y="3273552"/>
            <a:ext cx="2028687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81503" y="3273552"/>
            <a:ext cx="38100" cy="7132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46095" y="3328416"/>
            <a:ext cx="175436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6241F"/>
                </a:solidFill>
                <a:latin typeface="Calibri" panose="020F0502020204030204"/>
              </a:rPr>
              <a:t>Scan-verified sealed box</a:t>
            </a:r>
            <a:endParaRPr sz="1050" b="0" i="0">
              <a:solidFill>
                <a:srgbClr val="26241F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293071" y="3273552"/>
            <a:ext cx="2028687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3071" y="3273552"/>
            <a:ext cx="38100" cy="7132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7663" y="3328416"/>
            <a:ext cx="175436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6241F"/>
                </a:solidFill>
                <a:latin typeface="Calibri" panose="020F0502020204030204"/>
              </a:rPr>
              <a:t>Booked with the carrier</a:t>
            </a:r>
            <a:endParaRPr sz="1050" b="0" i="0">
              <a:solidFill>
                <a:srgbClr val="26241F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504639" y="3273552"/>
            <a:ext cx="2028687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4639" y="3273552"/>
            <a:ext cx="38100" cy="713232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69231" y="3328416"/>
            <a:ext cx="1754367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26241F"/>
                </a:solidFill>
                <a:latin typeface="Calibri" panose="020F0502020204030204"/>
              </a:rPr>
              <a:t>Delivery and RTO monitored</a:t>
            </a:r>
            <a:endParaRPr sz="1050" b="0" i="0">
              <a:solidFill>
                <a:srgbClr val="26241F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8368" y="411480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8A8678"/>
                </a:solidFill>
                <a:latin typeface="Calibri" panose="020F0502020204030204"/>
              </a:rPr>
              <a:t>NXT  ·  IN BUILD</a:t>
            </a:r>
            <a:endParaRPr sz="950" b="1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58368" y="4389120"/>
            <a:ext cx="3503066" cy="713232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B8B5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389120"/>
            <a:ext cx="38100" cy="713232"/>
          </a:xfrm>
          <a:prstGeom prst="rect">
            <a:avLst/>
          </a:prstGeom>
          <a:solidFill>
            <a:srgbClr val="8A8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443984"/>
            <a:ext cx="322874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C5950"/>
                </a:solidFill>
                <a:latin typeface="Calibri" panose="020F0502020204030204"/>
              </a:rPr>
              <a:t>Every figure rolls up</a:t>
            </a:r>
            <a:endParaRPr sz="10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344314" y="4389120"/>
            <a:ext cx="3503066" cy="713232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B8B5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44314" y="4389120"/>
            <a:ext cx="38100" cy="713232"/>
          </a:xfrm>
          <a:prstGeom prst="rect">
            <a:avLst/>
          </a:prstGeom>
          <a:solidFill>
            <a:srgbClr val="8A8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08906" y="4443984"/>
            <a:ext cx="322874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C5950"/>
                </a:solidFill>
                <a:latin typeface="Calibri" panose="020F0502020204030204"/>
              </a:rPr>
              <a:t>Trends and forecasts</a:t>
            </a:r>
            <a:endParaRPr sz="10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030260" y="4389120"/>
            <a:ext cx="3503066" cy="713232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B8B5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030260" y="4389120"/>
            <a:ext cx="38100" cy="713232"/>
          </a:xfrm>
          <a:prstGeom prst="rect">
            <a:avLst/>
          </a:prstGeom>
          <a:solidFill>
            <a:srgbClr val="8A8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94852" y="4443984"/>
            <a:ext cx="322874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5C5950"/>
                </a:solidFill>
                <a:latin typeface="Calibri" panose="020F0502020204030204"/>
              </a:rPr>
              <a:t>Executive dashboard</a:t>
            </a:r>
            <a:endParaRPr sz="10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58368" y="5175504"/>
            <a:ext cx="10874959" cy="1060704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340096"/>
            <a:ext cx="10180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0A0A"/>
                </a:solidFill>
                <a:latin typeface="Calibri" panose="020F0502020204030204"/>
              </a:rPr>
              <a:t>Status flows back the other way, continuously.</a:t>
            </a:r>
            <a:endParaRPr sz="15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05840" y="5687568"/>
            <a:ext cx="101800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C45A18"/>
                </a:solidFill>
                <a:latin typeface="Calibri" panose="020F0502020204030204"/>
              </a:rPr>
              <a:t>The parent sees live tracking, the warehouse sees a packed order, finance sees a reconciled invoice. Porter, local-vendor and school-drop consignments are the one leg still keyed in by hand.</a:t>
            </a:r>
            <a:endParaRPr sz="1250" b="0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06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54" name="Picture 53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DEEP DIVE  ·  01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Inventre eCommerce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Everything the parent and the student touch. 31 modules behind the admin backend.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10874959" cy="512064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38528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USERS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12848" y="1938528"/>
            <a:ext cx="904615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D3B35"/>
                </a:solidFill>
                <a:latin typeface="Calibri" panose="020F0502020204030204"/>
              </a:rPr>
              <a:t>Parent  ·  Student  ·  School admin</a:t>
            </a:r>
            <a:endParaRPr sz="11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0874959" cy="512064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4203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PORTAL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12848" y="2542032"/>
            <a:ext cx="904615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D3B35"/>
                </a:solidFill>
                <a:latin typeface="Calibri" panose="020F0502020204030204"/>
              </a:rPr>
              <a:t>Mobile-responsive web storefront  ·  OTP login  ·  role-based sessions</a:t>
            </a:r>
            <a:endParaRPr sz="11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312724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SERVICES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3383280"/>
            <a:ext cx="166009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383280"/>
            <a:ext cx="1660093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3547872"/>
            <a:ext cx="140406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0A0A"/>
                </a:solidFill>
                <a:latin typeface="Calibri" panose="020F0502020204030204"/>
              </a:rPr>
              <a:t>Catalogue</a:t>
            </a:r>
            <a:endParaRPr sz="11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6384" y="3840480"/>
            <a:ext cx="140406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Products · categories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school–grade mapping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501341" y="3383280"/>
            <a:ext cx="166009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01341" y="3383280"/>
            <a:ext cx="1660093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9357" y="3547872"/>
            <a:ext cx="140406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0A0A"/>
                </a:solidFill>
                <a:latin typeface="Calibri" panose="020F0502020204030204"/>
              </a:rPr>
              <a:t>Cart</a:t>
            </a:r>
            <a:endParaRPr sz="11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29357" y="3840480"/>
            <a:ext cx="140406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Items · coupons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Magic Box rules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44314" y="3383280"/>
            <a:ext cx="166009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4314" y="3383280"/>
            <a:ext cx="1660093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72330" y="3547872"/>
            <a:ext cx="140406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0A0A"/>
                </a:solidFill>
                <a:latin typeface="Calibri" panose="020F0502020204030204"/>
              </a:rPr>
              <a:t>Orders</a:t>
            </a:r>
            <a:endParaRPr sz="11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72330" y="3840480"/>
            <a:ext cx="140406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Lifecycle · status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history · exchanges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87287" y="3383280"/>
            <a:ext cx="166009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7287" y="3383280"/>
            <a:ext cx="1660093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5303" y="3547872"/>
            <a:ext cx="140406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0A0A"/>
                </a:solidFill>
                <a:latin typeface="Calibri" panose="020F0502020204030204"/>
              </a:rPr>
              <a:t>Payments</a:t>
            </a:r>
            <a:endParaRPr sz="11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15303" y="3840480"/>
            <a:ext cx="140406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CCAvenue · UPI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cards · netbanking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030260" y="3383280"/>
            <a:ext cx="166009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30260" y="3383280"/>
            <a:ext cx="1660093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8276" y="3547872"/>
            <a:ext cx="140406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0A0A"/>
                </a:solidFill>
                <a:latin typeface="Calibri" panose="020F0502020204030204"/>
              </a:rPr>
              <a:t>Notifications</a:t>
            </a:r>
            <a:endParaRPr sz="11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58276" y="3840480"/>
            <a:ext cx="140406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SMS · email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order milestones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873233" y="3383280"/>
            <a:ext cx="166009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73233" y="3383280"/>
            <a:ext cx="1660093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01249" y="3547872"/>
            <a:ext cx="140406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A0A0A"/>
                </a:solidFill>
                <a:latin typeface="Calibri" panose="020F0502020204030204"/>
              </a:rPr>
              <a:t>Tracking</a:t>
            </a:r>
            <a:endParaRPr sz="11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001249" y="3840480"/>
            <a:ext cx="140406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Shipment · delivery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6000"/>
              </a:lnSpc>
            </a:pPr>
            <a:r>
              <a:rPr sz="850" b="0" i="0">
                <a:solidFill>
                  <a:srgbClr val="5C5950"/>
                </a:solidFill>
                <a:latin typeface="Calibri" panose="020F0502020204030204"/>
              </a:rPr>
              <a:t>returns and claims</a:t>
            </a:r>
            <a:endParaRPr sz="8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58368" y="4553712"/>
            <a:ext cx="10874959" cy="457200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4553712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DATA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212848" y="4553712"/>
            <a:ext cx="90461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B5AB"/>
                </a:solidFill>
                <a:latin typeface="Calibri" panose="020F0502020204030204"/>
              </a:rPr>
              <a:t>PostgreSQL 16 via pgbouncer  ·  Redis 7  ·  Cloudflare R2  ·  full activity audit trail</a:t>
            </a:r>
            <a:endParaRPr sz="11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8368" y="5120640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INTEGRATIONS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8368" y="5376672"/>
            <a:ext cx="1690573" cy="384048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376672"/>
            <a:ext cx="16905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45A18"/>
                </a:solidFill>
                <a:latin typeface="Calibri" panose="020F0502020204030204"/>
              </a:rPr>
              <a:t>ERP bridge</a:t>
            </a:r>
            <a:endParaRPr sz="1000" b="1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495245" y="5376672"/>
            <a:ext cx="1690573" cy="384048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95245" y="5376672"/>
            <a:ext cx="16905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45A18"/>
                </a:solidFill>
                <a:latin typeface="Calibri" panose="020F0502020204030204"/>
              </a:rPr>
              <a:t>CCAvenue</a:t>
            </a:r>
            <a:endParaRPr sz="1000" b="1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332122" y="5376672"/>
            <a:ext cx="1690573" cy="384048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32122" y="5376672"/>
            <a:ext cx="16905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45A18"/>
                </a:solidFill>
                <a:latin typeface="Calibri" panose="020F0502020204030204"/>
              </a:rPr>
              <a:t>Arihant SMS</a:t>
            </a:r>
            <a:endParaRPr sz="1000" b="1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68999" y="5376672"/>
            <a:ext cx="1690573" cy="384048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68999" y="5376672"/>
            <a:ext cx="16905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45A18"/>
                </a:solidFill>
                <a:latin typeface="Calibri" panose="020F0502020204030204"/>
              </a:rPr>
              <a:t>Office 365 SMTP</a:t>
            </a:r>
            <a:endParaRPr sz="1000" b="1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005876" y="5376672"/>
            <a:ext cx="1690573" cy="384048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5876" y="5376672"/>
            <a:ext cx="16905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45A18"/>
                </a:solidFill>
                <a:latin typeface="Calibri" panose="020F0502020204030204"/>
              </a:rPr>
              <a:t>MyClassBoard</a:t>
            </a:r>
            <a:endParaRPr sz="1000" b="1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842753" y="5376672"/>
            <a:ext cx="1690573" cy="384048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42753" y="5376672"/>
            <a:ext cx="169057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45A18"/>
                </a:solidFill>
                <a:latin typeface="Calibri" panose="020F0502020204030204"/>
              </a:rPr>
              <a:t>ERPNext</a:t>
            </a:r>
            <a:endParaRPr sz="1000" b="1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07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56" name="Picture 55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DEEP DIVE  ·  02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Inventre ERP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How the business runs day to day. 24 modules on a single data model.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10874959" cy="548640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83664"/>
            <a:ext cx="1021659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47127"/>
                </a:solidFill>
                <a:latin typeface="Calibri" panose="020F0502020204030204"/>
              </a:rPr>
              <a:t>ERP CORE   ·   order processing  ·  master data  ·  integration engine</a:t>
            </a:r>
            <a:endParaRPr sz="13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2578608"/>
            <a:ext cx="256786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578608"/>
            <a:ext cx="2567863" cy="381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743200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Warehouse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" y="3035808"/>
            <a:ext cx="2165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Stock · packing · dispatch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scan-verified sealed units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27399" y="2578608"/>
            <a:ext cx="256786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7399" y="2578608"/>
            <a:ext cx="2567863" cy="381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8567" y="2743200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Inventory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28567" y="3035808"/>
            <a:ext cx="2165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Live sync · stock alerts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negative-stock flags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96431" y="2578608"/>
            <a:ext cx="256786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6431" y="2578608"/>
            <a:ext cx="2567863" cy="381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7599" y="2743200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Purchase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97599" y="3035808"/>
            <a:ext cx="2165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PO management · Zoho mirror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249 vendors · spend analytics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965463" y="2578608"/>
            <a:ext cx="256786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5463" y="2578608"/>
            <a:ext cx="2567863" cy="381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6631" y="2743200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Finance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66631" y="3035808"/>
            <a:ext cx="2165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Parent invoices · GST reports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MCB fee reconciliation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3730752"/>
            <a:ext cx="256786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730752"/>
            <a:ext cx="2567863" cy="381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3895344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Call Centre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9536" y="4187952"/>
            <a:ext cx="2165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Multi-channel queue · SLA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supervisor view · follow-ups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27399" y="3730752"/>
            <a:ext cx="256786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7399" y="3730752"/>
            <a:ext cx="2567863" cy="381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28567" y="3895344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CRM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28567" y="4187952"/>
            <a:ext cx="2165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Tickets · customer records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school relationships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196431" y="3730752"/>
            <a:ext cx="256786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6431" y="3730752"/>
            <a:ext cx="2567863" cy="381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7599" y="3895344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Master Data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97599" y="4187952"/>
            <a:ext cx="2165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Students · schools · items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BOMs · SKU mapping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965463" y="3730752"/>
            <a:ext cx="2567863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65463" y="3730752"/>
            <a:ext cx="2567863" cy="38100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66631" y="3895344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Reports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66631" y="4187952"/>
            <a:ext cx="2165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11 built-in reports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sales · GST · stock · aging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58368" y="4974336"/>
            <a:ext cx="10874959" cy="877824"/>
          </a:xfrm>
          <a:prstGeom prst="roundRect">
            <a:avLst>
              <a:gd name="adj" fmla="val 5500"/>
            </a:avLst>
          </a:prstGeom>
          <a:solidFill>
            <a:srgbClr val="ECF5F4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120640"/>
            <a:ext cx="101800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A0A0A"/>
                </a:solidFill>
                <a:latin typeface="Calibri" panose="020F0502020204030204"/>
              </a:rPr>
              <a:t>What the ERP does that a generic system would not</a:t>
            </a:r>
            <a:endParaRPr sz="13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05840" y="5431536"/>
            <a:ext cx="1018001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3B35"/>
                </a:solidFill>
                <a:latin typeface="Calibri" panose="020F0502020204030204"/>
              </a:rPr>
              <a:t>Magic Box composition and per-component fulfilment  ·  BOM-driven packing with mismatch detection  ·  aging-order intelligence from 0–3 to 91+ days  ·  dry-run parent invoicing before a single email goes out</a:t>
            </a:r>
            <a:endParaRPr sz="10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08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46" name="Picture 45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71055" y="1097280"/>
            <a:ext cx="446227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0" b="1" i="0">
                <a:solidFill>
                  <a:srgbClr val="16140F"/>
                </a:solidFill>
                <a:latin typeface="Calibri" panose="020F0502020204030204"/>
              </a:rPr>
              <a:t>03</a:t>
            </a:r>
            <a:endParaRPr sz="19000" b="1" i="0">
              <a:solidFill>
                <a:srgbClr val="16140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127"/>
                </a:solidFill>
                <a:latin typeface="Calibri" panose="020F0502020204030204"/>
              </a:rPr>
              <a:t>SECTION 03</a:t>
            </a:r>
            <a:endParaRPr sz="11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2231136"/>
            <a:ext cx="1188720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05456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AF7F2"/>
                </a:solidFill>
                <a:latin typeface="Calibri" panose="020F0502020204030204"/>
              </a:rPr>
              <a:t>Integration &amp; security</a:t>
            </a:r>
            <a:endParaRPr sz="40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3456432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B5AB"/>
                </a:solidFill>
                <a:latin typeface="Calibri" panose="020F0502020204030204"/>
              </a:rPr>
              <a:t>Connected systems, governed data.</a:t>
            </a:r>
            <a:endParaRPr sz="150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58368" y="429768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224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Every external system the platform depends on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58368" y="466344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5902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What happens when one of them is unavailable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8368" y="502920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9560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How access, isolation and audit are enforced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D3B35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3D3B35"/>
                </a:solidFill>
                <a:latin typeface="Calibri" panose="020F0502020204030204"/>
              </a:rPr>
              <a:t>09</a:t>
            </a:r>
            <a:endParaRPr sz="850" b="1" i="0">
              <a:solidFill>
                <a:srgbClr val="3D3B35"/>
              </a:solidFill>
              <a:latin typeface="Calibri" panose="020F0502020204030204"/>
            </a:endParaRPr>
          </a:p>
        </p:txBody>
      </p:sp>
      <p:pic>
        <p:nvPicPr>
          <p:cNvPr id="16" name="Picture 15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INTEGRATION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Every external system, named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Nine live integrations carry the business. One dispatch leg is still manual.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53003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MONEY &amp; MESSAGING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176272"/>
            <a:ext cx="5300319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176272"/>
            <a:ext cx="38100" cy="676656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76856"/>
            <a:ext cx="48431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Calibri" panose="020F0502020204030204"/>
              </a:rPr>
              <a:t>CCAvenue</a:t>
            </a:r>
            <a:endParaRPr sz="12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2542032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Payments · PCI-DSS · card data never touches our servers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" y="2944368"/>
            <a:ext cx="5300319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944368"/>
            <a:ext cx="38100" cy="676656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44952"/>
            <a:ext cx="48431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Calibri" panose="020F0502020204030204"/>
              </a:rPr>
              <a:t>Arihant Global</a:t>
            </a:r>
            <a:endParaRPr sz="12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6112" y="3310128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DLT-registered SMS — OTP and order milestones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" y="3712464"/>
            <a:ext cx="5300319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712464"/>
            <a:ext cx="38100" cy="676656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813048"/>
            <a:ext cx="48431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Calibri" panose="020F0502020204030204"/>
              </a:rPr>
              <a:t>Tata Tele</a:t>
            </a:r>
            <a:endParaRPr sz="12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6112" y="4078224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WhatsApp Business bot and cloud telephony for the call centre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4480560"/>
            <a:ext cx="5300319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4480560"/>
            <a:ext cx="38100" cy="676656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581144"/>
            <a:ext cx="48431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Calibri" panose="020F0502020204030204"/>
              </a:rPr>
              <a:t>Office 365</a:t>
            </a:r>
            <a:endParaRPr sz="12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6112" y="4846320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SMTP for parent invoices, sent only after a dry run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33007" y="1883664"/>
            <a:ext cx="530031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F6F6B"/>
                </a:solidFill>
                <a:latin typeface="Calibri" panose="020F0502020204030204"/>
              </a:rPr>
              <a:t>MASTER DATA &amp; STOCK</a:t>
            </a:r>
            <a:endParaRPr sz="950" b="1" i="0">
              <a:solidFill>
                <a:srgbClr val="1F6F6B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33007" y="2176272"/>
            <a:ext cx="5300319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2176272"/>
            <a:ext cx="38100" cy="67665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0751" y="2276856"/>
            <a:ext cx="48431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Calibri" panose="020F0502020204030204"/>
              </a:rPr>
              <a:t>ERPNext</a:t>
            </a:r>
            <a:endParaRPr sz="12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70751" y="2542032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Upstream master — items, customers, sales orders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33007" y="2944368"/>
            <a:ext cx="5300319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3007" y="2944368"/>
            <a:ext cx="38100" cy="67665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0751" y="3044952"/>
            <a:ext cx="48431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Calibri" panose="020F0502020204030204"/>
              </a:rPr>
              <a:t>Zoho Inventory</a:t>
            </a:r>
            <a:endParaRPr sz="12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70751" y="3310128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Purchase orders — 2,231 POs across 249 vendors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233007" y="3712464"/>
            <a:ext cx="5300319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3007" y="3712464"/>
            <a:ext cx="38100" cy="67665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0751" y="3813048"/>
            <a:ext cx="48431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Calibri" panose="020F0502020204030204"/>
              </a:rPr>
              <a:t>Microsoft OneDrive</a:t>
            </a:r>
            <a:endParaRPr sz="12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70751" y="4078224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Five shared workbooks polled over Graph OAuth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33007" y="4480560"/>
            <a:ext cx="5300319" cy="6766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3007" y="4480560"/>
            <a:ext cx="38100" cy="676656"/>
          </a:xfrm>
          <a:prstGeom prst="rect">
            <a:avLst/>
          </a:prstGeom>
          <a:solidFill>
            <a:srgbClr val="1F6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0751" y="4581144"/>
            <a:ext cx="48431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A0A0A"/>
                </a:solidFill>
                <a:latin typeface="Calibri" panose="020F0502020204030204"/>
              </a:rPr>
              <a:t>MyClassBoard</a:t>
            </a:r>
            <a:endParaRPr sz="12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70751" y="4846320"/>
            <a:ext cx="48431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Student grade and school fee receivables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8368" y="5303520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DISPATCH  ·  EIGHT CHANNELS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58368" y="5577840"/>
            <a:ext cx="1231353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669280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0A0A"/>
                </a:solidFill>
                <a:latin typeface="Calibri" panose="020F0502020204030204"/>
              </a:rPr>
              <a:t>Ekart</a:t>
            </a:r>
            <a:endParaRPr sz="10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8368" y="5925312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E47127"/>
                </a:solidFill>
                <a:latin typeface="Calibri" panose="020F0502020204030204"/>
              </a:rPr>
              <a:t>20,146</a:t>
            </a:r>
            <a:endParaRPr sz="900" b="0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036025" y="5577840"/>
            <a:ext cx="1231353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36025" y="5669280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0A0A"/>
                </a:solidFill>
                <a:latin typeface="Calibri" panose="020F0502020204030204"/>
              </a:rPr>
              <a:t>S-Rocket</a:t>
            </a:r>
            <a:endParaRPr sz="10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036025" y="5925312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E47127"/>
                </a:solidFill>
                <a:latin typeface="Calibri" panose="020F0502020204030204"/>
              </a:rPr>
              <a:t>17,551</a:t>
            </a:r>
            <a:endParaRPr sz="900" b="0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413683" y="5577840"/>
            <a:ext cx="1231353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13683" y="5669280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0A0A"/>
                </a:solidFill>
                <a:latin typeface="Calibri" panose="020F0502020204030204"/>
              </a:rPr>
              <a:t>DTDC</a:t>
            </a:r>
            <a:endParaRPr sz="10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413683" y="5925312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E47127"/>
                </a:solidFill>
                <a:latin typeface="Calibri" panose="020F0502020204030204"/>
              </a:rPr>
              <a:t>16,590</a:t>
            </a:r>
            <a:endParaRPr sz="900" b="0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791341" y="5577840"/>
            <a:ext cx="1231353" cy="658368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91341" y="5669280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C5950"/>
                </a:solidFill>
                <a:latin typeface="Calibri" panose="020F0502020204030204"/>
              </a:rPr>
              <a:t>Amazon</a:t>
            </a:r>
            <a:endParaRPr sz="1050" b="1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791341" y="5925312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14,412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168999" y="5577840"/>
            <a:ext cx="1231353" cy="658368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68999" y="5669280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C5950"/>
                </a:solidFill>
                <a:latin typeface="Calibri" panose="020F0502020204030204"/>
              </a:rPr>
              <a:t>To school</a:t>
            </a:r>
            <a:endParaRPr sz="1050" b="1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168999" y="5925312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7,422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7546657" y="5577840"/>
            <a:ext cx="1231353" cy="658368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46657" y="5669280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C5950"/>
                </a:solidFill>
                <a:latin typeface="Calibri" panose="020F0502020204030204"/>
              </a:rPr>
              <a:t>Porter</a:t>
            </a:r>
            <a:endParaRPr sz="1050" b="1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546657" y="5925312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6,037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924315" y="5577840"/>
            <a:ext cx="1231353" cy="658368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24315" y="5669280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5C5950"/>
                </a:solidFill>
                <a:latin typeface="Calibri" panose="020F0502020204030204"/>
              </a:rPr>
              <a:t>Local vendor</a:t>
            </a:r>
            <a:endParaRPr sz="1050" b="1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924315" y="5925312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2,220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10301973" y="5577840"/>
            <a:ext cx="1231353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01973" y="5669280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0A0A"/>
                </a:solidFill>
                <a:latin typeface="Calibri" panose="020F0502020204030204"/>
              </a:rPr>
              <a:t>XpressBees</a:t>
            </a:r>
            <a:endParaRPr sz="10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301973" y="5925312"/>
            <a:ext cx="123135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E47127"/>
                </a:solidFill>
                <a:latin typeface="Calibri" panose="020F0502020204030204"/>
              </a:rPr>
              <a:t>317</a:t>
            </a:r>
            <a:endParaRPr sz="900" b="0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58368" y="6327648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Highlighted channels book and track by API. Amazon, school drops, Porter and local vendor are entered by hand — the one manual leg left in the chain.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10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69" name="Picture 68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RELIABILITY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Why nothing gets lost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Each safety net below was built after a real incident, not in anticipation of one.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236311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44450" cy="120700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66544"/>
            <a:ext cx="468767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0A0A"/>
                </a:solidFill>
                <a:latin typeface="Calibri" panose="020F0502020204030204"/>
              </a:rPr>
              <a:t>Queued, never dropped</a:t>
            </a:r>
            <a:endParaRPr sz="14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976" y="2395728"/>
            <a:ext cx="4687671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Every order leaving the storefront is written to a durable queue before it is sent. If the ERP is unavailable, the queue holds and drains when it returns.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97015" y="1883664"/>
            <a:ext cx="5236311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7015" y="1883664"/>
            <a:ext cx="44450" cy="120700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9623" y="2066544"/>
            <a:ext cx="468767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0A0A"/>
                </a:solidFill>
                <a:latin typeface="Calibri" panose="020F0502020204030204"/>
              </a:rPr>
              <a:t>Retry with back-off</a:t>
            </a:r>
            <a:endParaRPr sz="14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9623" y="2395728"/>
            <a:ext cx="4687671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Failed deliveries retry automatically on a widening interval. A stranded message raises an alert rather than sitting silent.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3255264"/>
            <a:ext cx="5236311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255264"/>
            <a:ext cx="44450" cy="120700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38144"/>
            <a:ext cx="468767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0A0A"/>
                </a:solidFill>
                <a:latin typeface="Calibri" panose="020F0502020204030204"/>
              </a:rPr>
              <a:t>Independent sweepers</a:t>
            </a:r>
            <a:endParaRPr sz="14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0976" y="3767328"/>
            <a:ext cx="4687671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Scheduled jobs re-check payments, settlements and shipment status against the source, healing anything the live path missed.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97015" y="3255264"/>
            <a:ext cx="5236311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7015" y="3255264"/>
            <a:ext cx="44450" cy="1207008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9623" y="3438144"/>
            <a:ext cx="4687671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A0A0A"/>
                </a:solidFill>
                <a:latin typeface="Calibri" panose="020F0502020204030204"/>
              </a:rPr>
              <a:t>Three payment feeds</a:t>
            </a:r>
            <a:endParaRPr sz="14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9623" y="3767328"/>
            <a:ext cx="4687671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Gateway response, status API and the daily settlement file are reconciled against each other — a captured payment cannot stay invisible.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4809744"/>
            <a:ext cx="10874959" cy="1133856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992624"/>
            <a:ext cx="10143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E47127"/>
                </a:solidFill>
                <a:latin typeface="Calibri" panose="020F0502020204030204"/>
              </a:rPr>
              <a:t>The integration, marked against itself</a:t>
            </a:r>
            <a:endParaRPr sz="14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4128" y="5321808"/>
            <a:ext cx="1014343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B8B5AB"/>
                </a:solidFill>
                <a:latin typeface="Calibri" panose="020F0502020204030204"/>
              </a:rPr>
              <a:t>The storefront counts 24,800 paid orders. The ERP, independently, counts 24,805 — and the revenue figure matches to the rupee. Five orders out of twenty-four thousand is the width of the gap.</a:t>
            </a:r>
            <a:endParaRPr sz="120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D3B35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3D3B35"/>
                </a:solidFill>
                <a:latin typeface="Calibri" panose="020F0502020204030204"/>
              </a:rPr>
              <a:t>11</a:t>
            </a:r>
            <a:endParaRPr sz="850" b="1" i="0">
              <a:solidFill>
                <a:srgbClr val="3D3B35"/>
              </a:solidFill>
              <a:latin typeface="Calibri" panose="020F0502020204030204"/>
            </a:endParaRPr>
          </a:p>
        </p:txBody>
      </p:sp>
      <p:pic>
        <p:nvPicPr>
          <p:cNvPr id="28" name="Picture 27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GOVERNANCE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Security at every layer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The platform handles payments, PII and minor data. None of this is bolted on.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10874959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38100" cy="62179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83664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Authentication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01568" y="1883664"/>
            <a:ext cx="785743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OTP for parents — no password is ever stored for a parent account. Admin accounts use email and a hashed password.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58368" y="2596896"/>
            <a:ext cx="10874959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596896"/>
            <a:ext cx="38100" cy="62179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596896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Authorisation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01568" y="2596896"/>
            <a:ext cx="785743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Role-based access control across 8 admin roles, with read and write permissions set per module.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3310128"/>
            <a:ext cx="10874959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310128"/>
            <a:ext cx="38100" cy="62179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310128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Data isolation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01568" y="3310128"/>
            <a:ext cx="785743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School-scoped at the data layer. Cross-school access is prevented by the query itself, not by a UI check.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4023360"/>
            <a:ext cx="10874959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023360"/>
            <a:ext cx="38100" cy="62179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023360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Payment security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01568" y="4023360"/>
            <a:ext cx="785743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CCAvenue is PCI-DSS certified. Card data never reaches an Inventre server at any point in the flow.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4736592"/>
            <a:ext cx="10874959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736592"/>
            <a:ext cx="38100" cy="62179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736592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Audit trail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01568" y="4736592"/>
            <a:ext cx="785743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Every admin action, OTP event and payment transition is logged with actor and timestamp, and is queryable.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58368" y="5449824"/>
            <a:ext cx="10874959" cy="6217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449824"/>
            <a:ext cx="38100" cy="621792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449824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PII protection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01568" y="5449824"/>
            <a:ext cx="7857439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Student records are role-gated and encrypted at rest, with the most sensitive fields restricted to SuperAdmin.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12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33" name="Picture 32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71055" y="1097280"/>
            <a:ext cx="446227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0" b="1" i="0">
                <a:solidFill>
                  <a:srgbClr val="16140F"/>
                </a:solidFill>
                <a:latin typeface="Calibri" panose="020F0502020204030204"/>
              </a:rPr>
              <a:t>04</a:t>
            </a:r>
            <a:endParaRPr sz="19000" b="1" i="0">
              <a:solidFill>
                <a:srgbClr val="16140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127"/>
                </a:solidFill>
                <a:latin typeface="Calibri" panose="020F0502020204030204"/>
              </a:rPr>
              <a:t>SECTION 04</a:t>
            </a:r>
            <a:endParaRPr sz="11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2231136"/>
            <a:ext cx="1188720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05456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AF7F2"/>
                </a:solidFill>
                <a:latin typeface="Calibri" panose="020F0502020204030204"/>
              </a:rPr>
              <a:t>Inventre NXT</a:t>
            </a:r>
            <a:endParaRPr sz="40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3456432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B5AB"/>
                </a:solidFill>
                <a:latin typeface="Calibri" panose="020F0502020204030204"/>
              </a:rPr>
              <a:t>The intelligence layer — the next build.</a:t>
            </a:r>
            <a:endParaRPr sz="150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58368" y="429768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224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12 modules on one governed data model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58368" y="466344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5902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Reads from every system on the map; owns none of their jobs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8368" y="502920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9560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Turns two operational databases into one executive view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D3B35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3D3B35"/>
                </a:solidFill>
                <a:latin typeface="Calibri" panose="020F0502020204030204"/>
              </a:rPr>
              <a:t>13</a:t>
            </a:r>
            <a:endParaRPr sz="850" b="1" i="0">
              <a:solidFill>
                <a:srgbClr val="3D3B35"/>
              </a:solidFill>
              <a:latin typeface="Calibri" panose="020F0502020204030204"/>
            </a:endParaRPr>
          </a:p>
        </p:txBody>
      </p:sp>
      <p:pic>
        <p:nvPicPr>
          <p:cNvPr id="16" name="Picture 15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ROADMAP  ·  IN BUILD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Inventre NXT — the intelligence layer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Not another application. The layer that makes the other two answer a single question.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DATA SOURCES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157984"/>
            <a:ext cx="3490874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157984"/>
            <a:ext cx="3490874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86000"/>
            <a:ext cx="301538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eCommerce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2560320"/>
            <a:ext cx="301538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Orders · customers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payments · behaviour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50410" y="2157984"/>
            <a:ext cx="3490874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50410" y="2157984"/>
            <a:ext cx="3490874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8154" y="2286000"/>
            <a:ext cx="301538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ERP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88154" y="2560320"/>
            <a:ext cx="301538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Warehouse · inventory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finance · call centre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42452" y="2157984"/>
            <a:ext cx="3490874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2452" y="2157984"/>
            <a:ext cx="3490874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0196" y="2286000"/>
            <a:ext cx="301538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External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80196" y="2560320"/>
            <a:ext cx="301538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ERPNext · Zoho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5C5950"/>
                </a:solidFill>
                <a:latin typeface="Calibri" panose="020F0502020204030204"/>
              </a:rPr>
              <a:t>MyClassBoard · OneDrive</a:t>
            </a:r>
            <a:endParaRPr sz="9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3017520"/>
            <a:ext cx="10874959" cy="475488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B8B5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17520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C5950"/>
                </a:solidFill>
                <a:latin typeface="Calibri" panose="020F0502020204030204"/>
              </a:rPr>
              <a:t>INTEGRATION HUB   ·   consolidation  ·  harmonisation  ·  governance  ·  scheduled sync</a:t>
            </a:r>
            <a:endParaRPr sz="1200" b="1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" y="3584448"/>
            <a:ext cx="10874959" cy="530352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584448"/>
            <a:ext cx="10874959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E47127"/>
                </a:solidFill>
                <a:latin typeface="Calibri" panose="020F0502020204030204"/>
              </a:rPr>
              <a:t>GOVERNED DATA MODEL  +  ANALYTICS &amp; PREDICTION ENGINE</a:t>
            </a:r>
            <a:endParaRPr sz="13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" y="42245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OUTPUTS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4498848"/>
            <a:ext cx="2567863" cy="859536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B8B5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626864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D3B35"/>
                </a:solidFill>
                <a:latin typeface="Calibri" panose="020F0502020204030204"/>
              </a:rPr>
              <a:t>Executive dashboard</a:t>
            </a:r>
            <a:endParaRPr sz="1150" b="1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4901184"/>
            <a:ext cx="216552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One live view of revenue, orders and fulfilment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427399" y="4498848"/>
            <a:ext cx="2567863" cy="859536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B8B5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28567" y="4626864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D3B35"/>
                </a:solidFill>
                <a:latin typeface="Calibri" panose="020F0502020204030204"/>
              </a:rPr>
              <a:t>KPI scorecards</a:t>
            </a:r>
            <a:endParaRPr sz="1150" b="1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28567" y="4901184"/>
            <a:ext cx="216552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Per school, per category, per period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96431" y="4498848"/>
            <a:ext cx="2567863" cy="859536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B8B5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7599" y="4626864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D3B35"/>
                </a:solidFill>
                <a:latin typeface="Calibri" panose="020F0502020204030204"/>
              </a:rPr>
              <a:t>Predictive alerts</a:t>
            </a:r>
            <a:endParaRPr sz="1150" b="1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97599" y="4901184"/>
            <a:ext cx="216552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Demand, stock-out and aging-order warnings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965463" y="4498848"/>
            <a:ext cx="2567863" cy="859536"/>
          </a:xfrm>
          <a:prstGeom prst="roundRect">
            <a:avLst>
              <a:gd name="adj" fmla="val 5500"/>
            </a:avLst>
          </a:prstGeom>
          <a:noFill/>
          <a:ln w="12700">
            <a:solidFill>
              <a:srgbClr val="B8B5A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66631" y="4626864"/>
            <a:ext cx="216552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D3B35"/>
                </a:solidFill>
                <a:latin typeface="Calibri" panose="020F0502020204030204"/>
              </a:rPr>
              <a:t>Decision support</a:t>
            </a:r>
            <a:endParaRPr sz="1150" b="1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66631" y="4901184"/>
            <a:ext cx="2165527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Trend analysis and what-if scenarios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58368" y="5486400"/>
            <a:ext cx="10874959" cy="804672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5650992"/>
            <a:ext cx="10180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A0A0A"/>
                </a:solidFill>
                <a:latin typeface="Calibri" panose="020F0502020204030204"/>
              </a:rPr>
              <a:t>NXT does not replace anything on the systems map.</a:t>
            </a:r>
            <a:endParaRPr sz="15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5840" y="5998464"/>
            <a:ext cx="101800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C45A18"/>
                </a:solidFill>
                <a:latin typeface="Calibri" panose="020F0502020204030204"/>
              </a:rPr>
              <a:t>It reads from them. eCommerce keeps the customer, ERP keeps operations — NXT makes the two agree.</a:t>
            </a:r>
            <a:endParaRPr sz="1250" b="0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14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42" name="Picture 41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71055" y="1097280"/>
            <a:ext cx="446227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9000" b="1" i="0">
                <a:solidFill>
                  <a:srgbClr val="16140F"/>
                </a:solidFill>
                <a:latin typeface="Calibri" panose="020F0502020204030204"/>
              </a:rPr>
              <a:t>05</a:t>
            </a:r>
            <a:endParaRPr sz="19000" b="1" i="0">
              <a:solidFill>
                <a:srgbClr val="16140F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127"/>
                </a:solidFill>
                <a:latin typeface="Calibri" panose="020F0502020204030204"/>
              </a:rPr>
              <a:t>SECTION 05</a:t>
            </a:r>
            <a:endParaRPr sz="11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58368" y="2231136"/>
            <a:ext cx="1188720" cy="3810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05456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AF7F2"/>
                </a:solidFill>
                <a:latin typeface="Calibri" panose="020F0502020204030204"/>
              </a:rPr>
              <a:t>Deployment &amp; ownership</a:t>
            </a:r>
            <a:endParaRPr sz="40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3456432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B5AB"/>
                </a:solidFill>
                <a:latin typeface="Calibri" panose="020F0502020204030204"/>
              </a:rPr>
              <a:t>What it runs on, what it carries, what you own.</a:t>
            </a:r>
            <a:endParaRPr sz="150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658368" y="429768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22452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Three environments, from development to production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58368" y="466344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45902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The live production figures behind every claim in this deck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8368" y="5029200"/>
            <a:ext cx="64008" cy="64008"/>
          </a:xfrm>
          <a:prstGeom prst="ellipse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95604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Full source-code ownership, no vendor lock-in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D3B35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3D3B35"/>
                </a:solidFill>
                <a:latin typeface="Calibri" panose="020F0502020204030204"/>
              </a:rPr>
              <a:t>15</a:t>
            </a:r>
            <a:endParaRPr sz="850" b="1" i="0">
              <a:solidFill>
                <a:srgbClr val="3D3B35"/>
              </a:solidFill>
              <a:latin typeface="Calibri" panose="020F0502020204030204"/>
            </a:endParaRPr>
          </a:p>
        </p:txBody>
      </p:sp>
      <p:pic>
        <p:nvPicPr>
          <p:cNvPr id="16" name="Picture 15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DEPLOYMENT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Three environments, one pipeline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Nothing reaches a parent without passing through the two environments before it.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3490874" cy="15179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3490874" cy="444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57984"/>
            <a:ext cx="294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DEVELOPMENT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294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Active build and integration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798064"/>
            <a:ext cx="29422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Feature work · unit testing · isolated database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4176674" y="2560320"/>
            <a:ext cx="146304" cy="164592"/>
          </a:xfrm>
          <a:prstGeom prst="rightArrow">
            <a:avLst/>
          </a:prstGeom>
          <a:solidFill>
            <a:srgbClr val="F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0410" y="1883664"/>
            <a:ext cx="3490874" cy="151790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0410" y="1883664"/>
            <a:ext cx="3490874" cy="444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4730" y="2157984"/>
            <a:ext cx="294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A0A0A"/>
                </a:solidFill>
                <a:latin typeface="Calibri" panose="020F0502020204030204"/>
              </a:rPr>
              <a:t>STAGING / UAT</a:t>
            </a:r>
            <a:endParaRPr sz="12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24730" y="2468880"/>
            <a:ext cx="294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5950"/>
                </a:solidFill>
                <a:latin typeface="Calibri" panose="020F0502020204030204"/>
              </a:rPr>
              <a:t>Validation and sign-off</a:t>
            </a:r>
            <a:endParaRPr sz="110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24730" y="2798064"/>
            <a:ext cx="29422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C5950"/>
                </a:solidFill>
                <a:latin typeface="Calibri" panose="020F0502020204030204"/>
              </a:rPr>
              <a:t>Production-like data · acceptance testing · rehearsal</a:t>
            </a:r>
            <a:endParaRPr sz="9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7868716" y="2560320"/>
            <a:ext cx="146304" cy="164592"/>
          </a:xfrm>
          <a:prstGeom prst="rightArrow">
            <a:avLst/>
          </a:prstGeom>
          <a:solidFill>
            <a:srgbClr val="F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2452" y="1883664"/>
            <a:ext cx="3490874" cy="1517904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2452" y="1883664"/>
            <a:ext cx="3490874" cy="444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6772" y="2157984"/>
            <a:ext cx="294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47127"/>
                </a:solidFill>
                <a:latin typeface="Calibri" panose="020F0502020204030204"/>
              </a:rPr>
              <a:t>PRODUCTION</a:t>
            </a:r>
            <a:endParaRPr sz="12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6772" y="2468880"/>
            <a:ext cx="294223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8B5AB"/>
                </a:solidFill>
                <a:latin typeface="Calibri" panose="020F0502020204030204"/>
              </a:rPr>
              <a:t>Live business operations</a:t>
            </a:r>
            <a:endParaRPr sz="110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16772" y="2798064"/>
            <a:ext cx="29422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SSL/TLS · reverse proxy · nightly backup · monitoring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" y="3657600"/>
            <a:ext cx="10874959" cy="841248"/>
          </a:xfrm>
          <a:prstGeom prst="roundRect">
            <a:avLst>
              <a:gd name="adj" fmla="val 5500"/>
            </a:avLst>
          </a:prstGeom>
          <a:solidFill>
            <a:srgbClr val="F2EDE3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803904"/>
            <a:ext cx="1018001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A0A0A"/>
                </a:solidFill>
                <a:latin typeface="Calibri" panose="020F0502020204030204"/>
              </a:rPr>
              <a:t>Every environment carries the same shape</a:t>
            </a:r>
            <a:endParaRPr sz="13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4114800"/>
            <a:ext cx="10180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B35"/>
                </a:solidFill>
                <a:latin typeface="Calibri" panose="020F0502020204030204"/>
              </a:rPr>
              <a:t>Application server + PostgreSQL, on Linux, behind nginx with certificate-managed TLS, with a defined backup strategy and monitoring from day one.</a:t>
            </a:r>
            <a:endParaRPr sz="10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8" y="4754880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WHAT INVENTRE OWNS AT HANDOVER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8368" y="5047488"/>
            <a:ext cx="3490874" cy="402336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047488"/>
            <a:ext cx="312511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5A18"/>
                </a:solidFill>
                <a:latin typeface="Calibri" panose="020F0502020204030204"/>
              </a:rPr>
              <a:t>Full source code — all three platforms</a:t>
            </a:r>
            <a:endParaRPr sz="1050" b="0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350410" y="5047488"/>
            <a:ext cx="3490874" cy="402336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9866" y="5047488"/>
            <a:ext cx="312511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5A18"/>
                </a:solidFill>
                <a:latin typeface="Calibri" panose="020F0502020204030204"/>
              </a:rPr>
              <a:t>Complete git history, transferred</a:t>
            </a:r>
            <a:endParaRPr sz="1050" b="0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42452" y="5047488"/>
            <a:ext cx="3490874" cy="402336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1908" y="5047488"/>
            <a:ext cx="312511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5A18"/>
                </a:solidFill>
                <a:latin typeface="Calibri" panose="020F0502020204030204"/>
              </a:rPr>
              <a:t>Database schema and documentation</a:t>
            </a:r>
            <a:endParaRPr sz="1050" b="0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8368" y="5522976"/>
            <a:ext cx="3490874" cy="402336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5522976"/>
            <a:ext cx="312511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5A18"/>
                </a:solidFill>
                <a:latin typeface="Calibri" panose="020F0502020204030204"/>
              </a:rPr>
              <a:t>Deployment runbooks</a:t>
            </a:r>
            <a:endParaRPr sz="1050" b="0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50410" y="5522976"/>
            <a:ext cx="3490874" cy="402336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9866" y="5522976"/>
            <a:ext cx="312511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5A18"/>
                </a:solidFill>
                <a:latin typeface="Calibri" panose="020F0502020204030204"/>
              </a:rPr>
              <a:t>Structured knowledge-transfer sessions</a:t>
            </a:r>
            <a:endParaRPr sz="1050" b="0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042452" y="5522976"/>
            <a:ext cx="3490874" cy="402336"/>
          </a:xfrm>
          <a:prstGeom prst="roundRect">
            <a:avLst>
              <a:gd name="adj" fmla="val 5500"/>
            </a:avLst>
          </a:prstGeom>
          <a:solidFill>
            <a:srgbClr val="FEF3EC"/>
          </a:solidFill>
          <a:ln w="12700">
            <a:solidFill>
              <a:srgbClr val="FCE2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61908" y="5522976"/>
            <a:ext cx="312511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C45A18"/>
                </a:solidFill>
                <a:latin typeface="Calibri" panose="020F0502020204030204"/>
              </a:rPr>
              <a:t>Perpetual licence · no recurring fee</a:t>
            </a:r>
            <a:endParaRPr sz="1050" b="0" i="0">
              <a:solidFill>
                <a:srgbClr val="C45A18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16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42" name="Picture 41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LIVE PRODUCTION SCALE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AF7F2"/>
                </a:solidFill>
                <a:latin typeface="Calibri" panose="020F0502020204030204"/>
              </a:rPr>
              <a:t>The platform today</a:t>
            </a:r>
            <a:endParaRPr sz="29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8A8678"/>
                </a:solidFill>
                <a:latin typeface="Calibri" panose="020F0502020204030204"/>
              </a:rPr>
              <a:t>Every figure below was queried from the production databases on 20 July 2026.</a:t>
            </a:r>
            <a:endParaRPr sz="13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993392"/>
            <a:ext cx="2014057" cy="1170432"/>
          </a:xfrm>
          <a:prstGeom prst="roundRect">
            <a:avLst>
              <a:gd name="adj" fmla="val 5500"/>
            </a:avLst>
          </a:prstGeom>
          <a:solidFill>
            <a:srgbClr val="E47127"/>
          </a:solidFill>
          <a:ln w="127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8677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 panose="020F0502020204030204"/>
              </a:rPr>
              <a:t>₹14.53 Cr</a:t>
            </a:r>
            <a:endParaRPr sz="2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8677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FCE2D0"/>
                </a:solidFill>
                <a:latin typeface="Calibri" panose="020F0502020204030204"/>
              </a:rPr>
              <a:t>collected from paid orders</a:t>
            </a:r>
            <a:endParaRPr sz="950" b="0" i="0">
              <a:solidFill>
                <a:srgbClr val="FCE2D0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73593" y="1993392"/>
            <a:ext cx="2014057" cy="1170432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6745" y="2194560"/>
            <a:ext cx="18677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AF7F2"/>
                </a:solidFill>
                <a:latin typeface="Calibri" panose="020F0502020204030204"/>
              </a:rPr>
              <a:t>28,835</a:t>
            </a:r>
            <a:endParaRPr sz="2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46745" y="2651760"/>
            <a:ext cx="18677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orders placed all-time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88818" y="1993392"/>
            <a:ext cx="2014057" cy="1170432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1970" y="2194560"/>
            <a:ext cx="18677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AF7F2"/>
                </a:solidFill>
                <a:latin typeface="Calibri" panose="020F0502020204030204"/>
              </a:rPr>
              <a:t>24,800</a:t>
            </a:r>
            <a:endParaRPr sz="2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61970" y="2651760"/>
            <a:ext cx="18677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orders paid and confirmed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04044" y="1993392"/>
            <a:ext cx="2014057" cy="1170432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7196" y="2194560"/>
            <a:ext cx="18677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AF7F2"/>
                </a:solidFill>
                <a:latin typeface="Calibri" panose="020F0502020204030204"/>
              </a:rPr>
              <a:t>18,692</a:t>
            </a:r>
            <a:endParaRPr sz="2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77196" y="2651760"/>
            <a:ext cx="18677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orders delivered to date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519269" y="1993392"/>
            <a:ext cx="2014057" cy="1170432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92421" y="2194560"/>
            <a:ext cx="18677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AF7F2"/>
                </a:solidFill>
                <a:latin typeface="Calibri" panose="020F0502020204030204"/>
              </a:rPr>
              <a:t>589</a:t>
            </a:r>
            <a:endParaRPr sz="2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592421" y="2651760"/>
            <a:ext cx="18677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orders in the busiest single day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" y="3383280"/>
            <a:ext cx="2014057" cy="1170432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84448"/>
            <a:ext cx="18677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AF7F2"/>
                </a:solidFill>
                <a:latin typeface="Calibri" panose="020F0502020204030204"/>
              </a:rPr>
              <a:t>24,202</a:t>
            </a:r>
            <a:endParaRPr sz="2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4041648"/>
            <a:ext cx="18677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parent accounts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873593" y="3383280"/>
            <a:ext cx="2014057" cy="1170432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46745" y="3584448"/>
            <a:ext cx="18677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AF7F2"/>
                </a:solidFill>
                <a:latin typeface="Calibri" panose="020F0502020204030204"/>
              </a:rPr>
              <a:t>28,836</a:t>
            </a:r>
            <a:endParaRPr sz="2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946745" y="4041648"/>
            <a:ext cx="18677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students on the platform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88818" y="3383280"/>
            <a:ext cx="2014057" cy="1170432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1970" y="3584448"/>
            <a:ext cx="18677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AF7F2"/>
                </a:solidFill>
                <a:latin typeface="Calibri" panose="020F0502020204030204"/>
              </a:rPr>
              <a:t>21</a:t>
            </a:r>
            <a:endParaRPr sz="2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61970" y="4041648"/>
            <a:ext cx="18677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schools served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304044" y="3383280"/>
            <a:ext cx="2014057" cy="1170432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7196" y="3584448"/>
            <a:ext cx="18677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AF7F2"/>
                </a:solidFill>
                <a:latin typeface="Calibri" panose="020F0502020204030204"/>
              </a:rPr>
              <a:t>24,434</a:t>
            </a:r>
            <a:endParaRPr sz="2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77196" y="4041648"/>
            <a:ext cx="18677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carrier tracking numbers issued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519269" y="3383280"/>
            <a:ext cx="2014057" cy="1170432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92421" y="3584448"/>
            <a:ext cx="1867753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 i="0">
                <a:solidFill>
                  <a:srgbClr val="FAF7F2"/>
                </a:solidFill>
                <a:latin typeface="Calibri" panose="020F0502020204030204"/>
              </a:rPr>
              <a:t>1,996</a:t>
            </a:r>
            <a:endParaRPr sz="2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92421" y="4041648"/>
            <a:ext cx="186775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0" i="0">
                <a:solidFill>
                  <a:srgbClr val="8A8678"/>
                </a:solidFill>
                <a:latin typeface="Calibri" panose="020F0502020204030204"/>
              </a:rPr>
              <a:t>exchanges handled</a:t>
            </a:r>
            <a:endParaRPr sz="95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58368" y="4754880"/>
            <a:ext cx="10874959" cy="1280160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E471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4937760"/>
            <a:ext cx="10143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47127"/>
                </a:solidFill>
                <a:latin typeface="Calibri" panose="020F0502020204030204"/>
              </a:rPr>
              <a:t>This is not a pilot</a:t>
            </a:r>
            <a:endParaRPr sz="15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24128" y="5285232"/>
            <a:ext cx="1014343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B8B5AB"/>
                </a:solidFill>
                <a:latin typeface="Calibri" panose="020F0502020204030204"/>
              </a:rPr>
              <a:t>Two platforms are already carrying the entire business — 21 schools, 24,202 families, ₹14.53 crore collected, a peak of 589 orders absorbed in a single day without a manual step. NXT is the layer that turns all of that into one number leadership can act on.</a:t>
            </a:r>
            <a:endParaRPr sz="12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3D3B35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3D3B35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3D3B35"/>
                </a:solidFill>
                <a:latin typeface="Calibri" panose="020F0502020204030204"/>
              </a:rPr>
              <a:t>17</a:t>
            </a:r>
            <a:endParaRPr sz="850" b="1" i="0">
              <a:solidFill>
                <a:srgbClr val="3D3B35"/>
              </a:solidFill>
              <a:latin typeface="Calibri" panose="020F0502020204030204"/>
            </a:endParaRPr>
          </a:p>
        </p:txBody>
      </p:sp>
      <p:pic>
        <p:nvPicPr>
          <p:cNvPr id="42" name="Picture 41" descr="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47127"/>
                </a:solidFill>
                <a:latin typeface="Calibri" panose="020F0502020204030204"/>
              </a:rPr>
              <a:t>IN CLOSING</a:t>
            </a:r>
            <a:endParaRPr sz="10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87495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0A0A0A"/>
                </a:solidFill>
                <a:latin typeface="Calibri" panose="020F0502020204030204"/>
              </a:rPr>
              <a:t>One platform, wholly owned</a:t>
            </a:r>
            <a:endParaRPr sz="290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43584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C5950"/>
                </a:solidFill>
                <a:latin typeface="Calibri" panose="020F0502020204030204"/>
              </a:rPr>
              <a:t>Two systems live, a third in build, and every line of it Inventre's own.</a:t>
            </a:r>
            <a:endParaRPr sz="13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8368" y="1609344"/>
            <a:ext cx="822960" cy="317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3490874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3490874" cy="444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157984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A0A0A"/>
                </a:solidFill>
                <a:latin typeface="Calibri" panose="020F0502020204030204"/>
              </a:rPr>
              <a:t>What runs today</a:t>
            </a:r>
            <a:endParaRPr sz="15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976" y="2560320"/>
            <a:ext cx="290565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A storefront and an ERP joined by an integration neither side waits on — carrying 21 schools and ₹14.53 crore, with nine live external systems behind them.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50410" y="1883664"/>
            <a:ext cx="3490874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0410" y="1883664"/>
            <a:ext cx="3490874" cy="444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3018" y="2157984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A0A0A"/>
                </a:solidFill>
                <a:latin typeface="Calibri" panose="020F0502020204030204"/>
              </a:rPr>
              <a:t>What we build next</a:t>
            </a:r>
            <a:endParaRPr sz="15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43018" y="2560320"/>
            <a:ext cx="290565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Inventre NXT: 12 modules on one governed data model, reading from every system on the map to give leadership a single, current view of the business.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42452" y="1883664"/>
            <a:ext cx="3490874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D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2452" y="1883664"/>
            <a:ext cx="3490874" cy="44450"/>
          </a:xfrm>
          <a:prstGeom prst="rect">
            <a:avLst/>
          </a:prstGeom>
          <a:solidFill>
            <a:srgbClr val="E47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5060" y="2157984"/>
            <a:ext cx="29056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A0A0A"/>
                </a:solidFill>
                <a:latin typeface="Calibri" panose="020F0502020204030204"/>
              </a:rPr>
              <a:t>What Inventre owns</a:t>
            </a:r>
            <a:endParaRPr sz="1550" b="1" i="0">
              <a:solidFill>
                <a:srgbClr val="0A0A0A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35060" y="2560320"/>
            <a:ext cx="290565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50" b="0" i="0">
                <a:solidFill>
                  <a:srgbClr val="5C5950"/>
                </a:solidFill>
                <a:latin typeface="Calibri" panose="020F0502020204030204"/>
              </a:rPr>
              <a:t>All three platforms, in full source, with the git history, the schema, the runbooks and the knowledge transfer. No lock-in and no recurring licence.</a:t>
            </a:r>
            <a:endParaRPr sz="1150" b="0" i="0">
              <a:solidFill>
                <a:srgbClr val="5C5950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4261104"/>
            <a:ext cx="108749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E47127"/>
                </a:solidFill>
                <a:latin typeface="Calibri" panose="020F0502020204030204"/>
              </a:rPr>
              <a:t>NEXT STEPS</a:t>
            </a:r>
            <a:endParaRPr sz="95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4553712"/>
            <a:ext cx="2567863" cy="1115568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681728"/>
            <a:ext cx="21289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127"/>
                </a:solidFill>
                <a:latin typeface="Calibri" panose="020F0502020204030204"/>
              </a:rPr>
              <a:t>01</a:t>
            </a:r>
            <a:endParaRPr sz="11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7824" y="4901184"/>
            <a:ext cx="212895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F7F2"/>
                </a:solidFill>
                <a:latin typeface="Calibri" panose="020F0502020204030204"/>
              </a:rPr>
              <a:t>Review</a:t>
            </a:r>
            <a:endParaRPr sz="1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7824" y="5157216"/>
            <a:ext cx="21289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Board and executive alignment on the architecture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27399" y="4553712"/>
            <a:ext cx="2567863" cy="1115568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46855" y="4681728"/>
            <a:ext cx="21289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127"/>
                </a:solidFill>
                <a:latin typeface="Calibri" panose="020F0502020204030204"/>
              </a:rPr>
              <a:t>02</a:t>
            </a:r>
            <a:endParaRPr sz="11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46855" y="4901184"/>
            <a:ext cx="212895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F7F2"/>
                </a:solidFill>
                <a:latin typeface="Calibri" panose="020F0502020204030204"/>
              </a:rPr>
              <a:t>Walkthrough</a:t>
            </a:r>
            <a:endParaRPr sz="1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46855" y="5157216"/>
            <a:ext cx="21289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Live demonstration of both production systems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96431" y="4553712"/>
            <a:ext cx="2567863" cy="1115568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5887" y="4681728"/>
            <a:ext cx="21289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127"/>
                </a:solidFill>
                <a:latin typeface="Calibri" panose="020F0502020204030204"/>
              </a:rPr>
              <a:t>03</a:t>
            </a:r>
            <a:endParaRPr sz="11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15887" y="4901184"/>
            <a:ext cx="212895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F7F2"/>
                </a:solidFill>
                <a:latin typeface="Calibri" panose="020F0502020204030204"/>
              </a:rPr>
              <a:t>Confirm</a:t>
            </a:r>
            <a:endParaRPr sz="1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15887" y="5157216"/>
            <a:ext cx="21289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Scope and sequence for the NXT build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965463" y="4553712"/>
            <a:ext cx="2567863" cy="1115568"/>
          </a:xfrm>
          <a:prstGeom prst="roundRect">
            <a:avLst>
              <a:gd name="adj" fmla="val 5500"/>
            </a:avLst>
          </a:prstGeom>
          <a:solidFill>
            <a:srgbClr val="16140F"/>
          </a:solidFill>
          <a:ln w="12700">
            <a:solidFill>
              <a:srgbClr val="2624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4919" y="4681728"/>
            <a:ext cx="2128951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7127"/>
                </a:solidFill>
                <a:latin typeface="Calibri" panose="020F0502020204030204"/>
              </a:rPr>
              <a:t>04</a:t>
            </a:r>
            <a:endParaRPr sz="1100" b="1" i="0">
              <a:solidFill>
                <a:srgbClr val="E47127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84919" y="4901184"/>
            <a:ext cx="2128951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AF7F2"/>
                </a:solidFill>
                <a:latin typeface="Calibri" panose="020F0502020204030204"/>
              </a:rPr>
              <a:t>Commence</a:t>
            </a:r>
            <a:endParaRPr sz="1300" b="1" i="0">
              <a:solidFill>
                <a:srgbClr val="FAF7F2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84919" y="5157216"/>
            <a:ext cx="2128951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00" b="0" i="0">
                <a:solidFill>
                  <a:srgbClr val="8A8678"/>
                </a:solidFill>
                <a:latin typeface="Calibri" panose="020F0502020204030204"/>
              </a:rPr>
              <a:t>Kick off delivery against an agreed timeline</a:t>
            </a:r>
            <a:endParaRPr sz="900" b="0" i="0">
              <a:solidFill>
                <a:srgbClr val="8A8678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B8B5AB"/>
                </a:solidFill>
                <a:latin typeface="Calibri" panose="020F0502020204030204"/>
              </a:rPr>
              <a:t>Inventre  ·  inventre.in  +  audit.inventre.in</a:t>
            </a:r>
            <a:endParaRPr sz="850" b="0" i="0">
              <a:solidFill>
                <a:srgbClr val="B8B5AB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618927" y="641908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1" i="0">
                <a:solidFill>
                  <a:srgbClr val="B8B5AB"/>
                </a:solidFill>
                <a:latin typeface="Calibri" panose="020F0502020204030204"/>
              </a:rPr>
              <a:t>18</a:t>
            </a:r>
            <a:endParaRPr sz="850" b="1" i="0">
              <a:solidFill>
                <a:srgbClr val="B8B5AB"/>
              </a:solidFill>
              <a:latin typeface="Calibri" panose="020F0502020204030204"/>
            </a:endParaRPr>
          </a:p>
        </p:txBody>
      </p:sp>
      <p:pic>
        <p:nvPicPr>
          <p:cNvPr id="38" name="Picture 37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438912"/>
            <a:ext cx="1417320" cy="1879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13062</Words>
  <Application>WPS Presentation</Application>
  <PresentationFormat>On-screen Show (4:3)</PresentationFormat>
  <Paragraphs>784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VJJ 5</cp:lastModifiedBy>
  <cp:revision>2</cp:revision>
  <dcterms:created xsi:type="dcterms:W3CDTF">2013-01-27T09:14:00Z</dcterms:created>
  <dcterms:modified xsi:type="dcterms:W3CDTF">2026-07-21T05:32:50Z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6C6EABE2549D4A0C9D51EA6D01B49FEE_12</vt:lpwstr>
  </property>
  <property fmtid="{D5CDD505-2E9C-101B-9397-08002B2CF9AE}" pid="3" name="KSOProductBuildVer">
    <vt:lpwstr>1033-12.1.0.26880</vt:lpwstr>
  </property>
</Properties>
</file>