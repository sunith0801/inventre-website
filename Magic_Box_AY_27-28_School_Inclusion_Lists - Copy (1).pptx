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58" r:id="rId5"/>
    <p:sldId id="266" r:id="rId6"/>
    <p:sldId id="267" r:id="rId7"/>
    <p:sldId id="259" r:id="rId8"/>
    <p:sldId id="268" r:id="rId9"/>
    <p:sldId id="269" r:id="rId10"/>
    <p:sldId id="261" r:id="rId11"/>
    <p:sldId id="270" r:id="rId12"/>
    <p:sldId id="262" r:id="rId13"/>
    <p:sldId id="271" r:id="rId14"/>
    <p:sldId id="263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37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28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36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02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93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57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72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89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5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60175" cy="1737360"/>
          </a:xfrm>
          <a:prstGeom prst="roundRect">
            <a:avLst>
              <a:gd name="adj" fmla="val 6316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INVENT'RE  ·  SCHOOL UNIFORM &amp; MERCHANDISE PROGRAM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49808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School-wise Inclusion Lists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66928" y="2404872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24328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52648" y="2331720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52648" y="2331720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53816" y="2404872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53816" y="2624328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172968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172968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" y="3246120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465576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Winmore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52648" y="3172968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52648" y="3172968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553816" y="3246120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53816" y="3465576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CWS AG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4014216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4014216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66928" y="4087368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306824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52648" y="4014216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352648" y="4014216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3553816" y="4087368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553816" y="4306824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5760" y="4855464"/>
            <a:ext cx="2712568" cy="713232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" y="4855464"/>
            <a:ext cx="73152" cy="713232"/>
          </a:xfrm>
          <a:prstGeom prst="rect">
            <a:avLst/>
          </a:prstGeom>
          <a:solidFill>
            <a:srgbClr val="EB7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66928" y="4928616"/>
            <a:ext cx="2392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148072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5255" y="233172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EAF6FC"/>
          </a:solidFill>
          <a:ln w="15875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586423" y="245059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6423" y="276148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BEE7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6879031" y="27066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86423" y="314553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EB7A2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6879031" y="3090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headings (Uniform / Books / Merchandise / New Additions)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6423" y="352958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BDC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879031" y="3474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headings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85255" y="42062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3E8"/>
          </a:solidFill>
          <a:ln w="15875">
            <a:solidFill>
              <a:srgbClr val="F3B2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6586423" y="434340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5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586423" y="4617720"/>
            <a:ext cx="5038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contains one slide per school, listing that school's complete Magic Box inclusions across Uniform, Books, Merchandise and New Additions, grouped by Section and Grade. Item counts (pairs / sets / nos) are as issued per student for the academic year.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A9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INVENT'RE   |   MAGIC BOX   |   AY 2027–28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BOYS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756188"/>
              </p:ext>
            </p:extLst>
          </p:nvPr>
        </p:nvGraphicFramePr>
        <p:xfrm>
          <a:off x="373541" y="1097179"/>
          <a:ext cx="11452396" cy="5288540"/>
        </p:xfrm>
        <a:graphic>
          <a:graphicData uri="http://schemas.openxmlformats.org/drawingml/2006/table">
            <a:tbl>
              <a:tblPr/>
              <a:tblGrid>
                <a:gridCol w="102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309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1398">
                  <a:extLst>
                    <a:ext uri="{9D8B030D-6E8A-4147-A177-3AD203B41FA5}">
                      <a16:colId xmlns:a16="http://schemas.microsoft.com/office/drawing/2014/main" val="2544641419"/>
                    </a:ext>
                  </a:extLst>
                </a:gridCol>
                <a:gridCol w="891398">
                  <a:extLst>
                    <a:ext uri="{9D8B030D-6E8A-4147-A177-3AD203B41FA5}">
                      <a16:colId xmlns:a16="http://schemas.microsoft.com/office/drawing/2014/main" val="1217784118"/>
                    </a:ext>
                  </a:extLst>
                </a:gridCol>
              </a:tblGrid>
              <a:tr h="30104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endParaRPr lang="en-US" sz="95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1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/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/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2 pair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44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(Boys Only)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044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04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GIRLS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705659"/>
              </p:ext>
            </p:extLst>
          </p:nvPr>
        </p:nvGraphicFramePr>
        <p:xfrm>
          <a:off x="373542" y="1234440"/>
          <a:ext cx="11460174" cy="5288540"/>
        </p:xfrm>
        <a:graphic>
          <a:graphicData uri="http://schemas.openxmlformats.org/drawingml/2006/table">
            <a:tbl>
              <a:tblPr/>
              <a:tblGrid>
                <a:gridCol w="965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3343621660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2554547177"/>
                    </a:ext>
                  </a:extLst>
                </a:gridCol>
                <a:gridCol w="842371">
                  <a:extLst>
                    <a:ext uri="{9D8B030D-6E8A-4147-A177-3AD203B41FA5}">
                      <a16:colId xmlns:a16="http://schemas.microsoft.com/office/drawing/2014/main" val="1217784118"/>
                    </a:ext>
                  </a:extLst>
                </a:gridCol>
              </a:tblGrid>
              <a:tr h="30104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1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Tights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/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2 pair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44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044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</a:t>
                      </a:r>
                      <a:r>
                        <a:rPr lang="en-US" sz="800" dirty="0" err="1">
                          <a:solidFill>
                            <a:srgbClr val="3A2B20"/>
                          </a:solidFill>
                        </a:rPr>
                        <a:t>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04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0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57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BOYS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124930"/>
              </p:ext>
            </p:extLst>
          </p:nvPr>
        </p:nvGraphicFramePr>
        <p:xfrm>
          <a:off x="356031" y="1106425"/>
          <a:ext cx="11460174" cy="5376532"/>
        </p:xfrm>
        <a:graphic>
          <a:graphicData uri="http://schemas.openxmlformats.org/drawingml/2006/table">
            <a:tbl>
              <a:tblPr/>
              <a:tblGrid>
                <a:gridCol w="1041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3652846109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4246266618"/>
                    </a:ext>
                  </a:extLst>
                </a:gridCol>
              </a:tblGrid>
              <a:tr h="40261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41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/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 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 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41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T-shirts, </a:t>
                      </a: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41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41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GIRLS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948522"/>
              </p:ext>
            </p:extLst>
          </p:nvPr>
        </p:nvGraphicFramePr>
        <p:xfrm>
          <a:off x="356032" y="1106425"/>
          <a:ext cx="11460173" cy="5422900"/>
        </p:xfrm>
        <a:graphic>
          <a:graphicData uri="http://schemas.openxmlformats.org/drawingml/2006/table">
            <a:tbl>
              <a:tblPr/>
              <a:tblGrid>
                <a:gridCol w="97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4180853633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4246266618"/>
                    </a:ext>
                  </a:extLst>
                </a:gridCol>
              </a:tblGrid>
              <a:tr h="40261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8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Bloomers/Tights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41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/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9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Frocks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41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41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T-Shirts, </a:t>
                      </a: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41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34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WINMORE BOYS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514976"/>
              </p:ext>
            </p:extLst>
          </p:nvPr>
        </p:nvGraphicFramePr>
        <p:xfrm>
          <a:off x="356031" y="1106425"/>
          <a:ext cx="11375521" cy="5658472"/>
        </p:xfrm>
        <a:graphic>
          <a:graphicData uri="http://schemas.openxmlformats.org/drawingml/2006/table">
            <a:tbl>
              <a:tblPr/>
              <a:tblGrid>
                <a:gridCol w="1034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539526830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4246266618"/>
                    </a:ext>
                  </a:extLst>
                </a:gridCol>
              </a:tblGrid>
              <a:tr h="40261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41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3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0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41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T-shirts,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41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41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646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WINMORE (GIRLS)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FF53D556-6493-5520-A5A2-4AA2AA8B3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572555"/>
              </p:ext>
            </p:extLst>
          </p:nvPr>
        </p:nvGraphicFramePr>
        <p:xfrm>
          <a:off x="356032" y="1078992"/>
          <a:ext cx="11460175" cy="5449817"/>
        </p:xfrm>
        <a:graphic>
          <a:graphicData uri="http://schemas.openxmlformats.org/drawingml/2006/table">
            <a:tbl>
              <a:tblPr/>
              <a:tblGrid>
                <a:gridCol w="973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1522773555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4246266618"/>
                    </a:ext>
                  </a:extLst>
                </a:gridCol>
              </a:tblGrid>
              <a:tr h="456153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0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Bloomers/Tights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10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T-Shirts,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104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104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T-Shirts,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210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CWS AGRA BOYS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01396"/>
              </p:ext>
            </p:extLst>
          </p:nvPr>
        </p:nvGraphicFramePr>
        <p:xfrm>
          <a:off x="356031" y="1106425"/>
          <a:ext cx="11375521" cy="5658472"/>
        </p:xfrm>
        <a:graphic>
          <a:graphicData uri="http://schemas.openxmlformats.org/drawingml/2006/table">
            <a:tbl>
              <a:tblPr/>
              <a:tblGrid>
                <a:gridCol w="1034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2387095450"/>
                    </a:ext>
                  </a:extLst>
                </a:gridCol>
                <a:gridCol w="792835">
                  <a:extLst>
                    <a:ext uri="{9D8B030D-6E8A-4147-A177-3AD203B41FA5}">
                      <a16:colId xmlns:a16="http://schemas.microsoft.com/office/drawing/2014/main" val="4246266618"/>
                    </a:ext>
                  </a:extLst>
                </a:gridCol>
              </a:tblGrid>
              <a:tr h="40261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41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3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0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41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T-shirts,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41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41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56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CWS AGRA (GIRLS)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FF53D556-6493-5520-A5A2-4AA2AA8B3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2576"/>
              </p:ext>
            </p:extLst>
          </p:nvPr>
        </p:nvGraphicFramePr>
        <p:xfrm>
          <a:off x="356032" y="1078992"/>
          <a:ext cx="11460175" cy="5449817"/>
        </p:xfrm>
        <a:graphic>
          <a:graphicData uri="http://schemas.openxmlformats.org/drawingml/2006/table">
            <a:tbl>
              <a:tblPr/>
              <a:tblGrid>
                <a:gridCol w="973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690114249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4246266618"/>
                    </a:ext>
                  </a:extLst>
                </a:gridCol>
              </a:tblGrid>
              <a:tr h="456153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0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Bloomers/Tights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10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T-Shirts,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104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Skorts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104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T-Shirts,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210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21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78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TSUS BOYS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55425"/>
              </p:ext>
            </p:extLst>
          </p:nvPr>
        </p:nvGraphicFramePr>
        <p:xfrm>
          <a:off x="365760" y="1078992"/>
          <a:ext cx="11460169" cy="5199794"/>
        </p:xfrm>
        <a:graphic>
          <a:graphicData uri="http://schemas.openxmlformats.org/drawingml/2006/table">
            <a:tbl>
              <a:tblPr/>
              <a:tblGrid>
                <a:gridCol w="98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77787">
                  <a:extLst>
                    <a:ext uri="{9D8B030D-6E8A-4147-A177-3AD203B41FA5}">
                      <a16:colId xmlns:a16="http://schemas.microsoft.com/office/drawing/2014/main" val="2876066834"/>
                    </a:ext>
                  </a:extLst>
                </a:gridCol>
                <a:gridCol w="915767">
                  <a:extLst>
                    <a:ext uri="{9D8B030D-6E8A-4147-A177-3AD203B41FA5}">
                      <a16:colId xmlns:a16="http://schemas.microsoft.com/office/drawing/2014/main" val="1355377473"/>
                    </a:ext>
                  </a:extLst>
                </a:gridCol>
              </a:tblGrid>
              <a:tr h="435747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1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475F"/>
                          </a:solidFill>
                        </a:rPr>
                        <a:t>Socks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14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142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142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3 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3 shirts, 2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Full pants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14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81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TSUS GIRLS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844819"/>
              </p:ext>
            </p:extLst>
          </p:nvPr>
        </p:nvGraphicFramePr>
        <p:xfrm>
          <a:off x="365761" y="1114044"/>
          <a:ext cx="11460173" cy="5228515"/>
        </p:xfrm>
        <a:graphic>
          <a:graphicData uri="http://schemas.openxmlformats.org/drawingml/2006/table">
            <a:tbl>
              <a:tblPr/>
              <a:tblGrid>
                <a:gridCol w="98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303761236"/>
                    </a:ext>
                  </a:extLst>
                </a:gridCol>
                <a:gridCol w="880706">
                  <a:extLst>
                    <a:ext uri="{9D8B030D-6E8A-4147-A177-3AD203B41FA5}">
                      <a16:colId xmlns:a16="http://schemas.microsoft.com/office/drawing/2014/main" val="1355377473"/>
                    </a:ext>
                  </a:extLst>
                </a:gridCol>
              </a:tblGrid>
              <a:tr h="295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0475F"/>
                          </a:solidFill>
                        </a:rPr>
                        <a:t>Socks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35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Pre-Primary (SeeSaw)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Nursery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LKG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UKG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NA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T-shirts, 2 Half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835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835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3 shirts, 2 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Full pants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8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9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10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7A3B10"/>
                          </a:solidFill>
                        </a:rPr>
                        <a:t>Higher Secondary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11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8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A2B20"/>
                          </a:solidFill>
                        </a:rPr>
                        <a:t>Grade 12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T-Shirt, 1 Track pant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9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pair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04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BOYS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262781"/>
              </p:ext>
            </p:extLst>
          </p:nvPr>
        </p:nvGraphicFramePr>
        <p:xfrm>
          <a:off x="365760" y="1170432"/>
          <a:ext cx="11460172" cy="4646709"/>
        </p:xfrm>
        <a:graphic>
          <a:graphicData uri="http://schemas.openxmlformats.org/drawingml/2006/table">
            <a:tbl>
              <a:tblPr/>
              <a:tblGrid>
                <a:gridCol w="104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3702704198"/>
                    </a:ext>
                  </a:extLst>
                </a:gridCol>
                <a:gridCol w="798735">
                  <a:extLst>
                    <a:ext uri="{9D8B030D-6E8A-4147-A177-3AD203B41FA5}">
                      <a16:colId xmlns:a16="http://schemas.microsoft.com/office/drawing/2014/main" val="2555823941"/>
                    </a:ext>
                  </a:extLst>
                </a:gridCol>
              </a:tblGrid>
              <a:tr h="679753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Regular </a:t>
                      </a:r>
                      <a:r>
                        <a:rPr lang="en-US" sz="1050" b="1" kern="1200" dirty="0">
                          <a:solidFill>
                            <a:srgbClr val="10475F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301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301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  •   Slide 6 of 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GIRLS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35275"/>
              </p:ext>
            </p:extLst>
          </p:nvPr>
        </p:nvGraphicFramePr>
        <p:xfrm>
          <a:off x="365760" y="1170432"/>
          <a:ext cx="11375514" cy="4646709"/>
        </p:xfrm>
        <a:graphic>
          <a:graphicData uri="http://schemas.openxmlformats.org/drawingml/2006/table">
            <a:tbl>
              <a:tblPr/>
              <a:tblGrid>
                <a:gridCol w="96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3436795356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2555823941"/>
                    </a:ext>
                  </a:extLst>
                </a:gridCol>
              </a:tblGrid>
              <a:tr h="679753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Regular </a:t>
                      </a:r>
                      <a:r>
                        <a:rPr lang="en-US" sz="1050" b="1" kern="1200" dirty="0">
                          <a:solidFill>
                            <a:srgbClr val="10475F"/>
                          </a:solidFill>
                          <a:latin typeface="+mn-lt"/>
                          <a:ea typeface="+mn-ea"/>
                          <a:cs typeface="+mn-cs"/>
                        </a:rPr>
                        <a:t>Socks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Tights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50" b="1" kern="1200" dirty="0">
                          <a:solidFill>
                            <a:srgbClr val="7A3B10"/>
                          </a:solidFill>
                          <a:latin typeface="+mn-lt"/>
                          <a:ea typeface="+mn-ea"/>
                          <a:cs typeface="+mn-cs"/>
                        </a:rPr>
                        <a:t>Bottles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301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301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3B10"/>
                          </a:solidFill>
                        </a:rPr>
                        <a:t>Secondary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nos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3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/>
                        <a:t>3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T-Shirts</a:t>
                      </a:r>
                      <a:r>
                        <a:rPr lang="en-US" sz="1050" dirty="0"/>
                        <a:t>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2 T-Shirt, 1 Track pant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 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sz="9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nos</a:t>
                      </a:r>
                      <a:endParaRPr kumimoji="0" lang="en-US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   •   Slide 6 of 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3416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594440"/>
              </p:ext>
            </p:extLst>
          </p:nvPr>
        </p:nvGraphicFramePr>
        <p:xfrm>
          <a:off x="385215" y="1156654"/>
          <a:ext cx="11440715" cy="4564600"/>
        </p:xfrm>
        <a:graphic>
          <a:graphicData uri="http://schemas.openxmlformats.org/drawingml/2006/table">
            <a:tbl>
              <a:tblPr/>
              <a:tblGrid>
                <a:gridCol w="852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1253022269"/>
                    </a:ext>
                  </a:extLst>
                </a:gridCol>
              </a:tblGrid>
              <a:tr h="70177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Socks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Scarf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Bottle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86">
                <a:tc rowSpan="7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3 Shirts,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kern="1200" noProof="0" dirty="0">
                          <a:solidFill>
                            <a:srgbClr val="3A2B20"/>
                          </a:solidFill>
                          <a:latin typeface="+mn-lt"/>
                          <a:ea typeface="+mn-ea"/>
                          <a:cs typeface="+mn-cs"/>
                        </a:rPr>
                        <a:t>2 Sports T-shirt, 1 Shorts</a:t>
                      </a:r>
                      <a:endParaRPr lang="en-US" sz="1000" kern="1200" dirty="0">
                        <a:solidFill>
                          <a:srgbClr val="3A2B2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2 pair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Shirts, 2 Full Pants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YIPS   •   Slide 7 of 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60175" cy="777240"/>
          </a:xfrm>
          <a:prstGeom prst="roundRect">
            <a:avLst>
              <a:gd name="adj" fmla="val 9412"/>
            </a:avLst>
          </a:prstGeom>
          <a:solidFill>
            <a:srgbClr val="F29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91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BOX — COMPLETE INCLUSION LIST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22815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722815" y="457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2027–28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414192"/>
              </p:ext>
            </p:extLst>
          </p:nvPr>
        </p:nvGraphicFramePr>
        <p:xfrm>
          <a:off x="385215" y="1156654"/>
          <a:ext cx="11440715" cy="4564600"/>
        </p:xfrm>
        <a:graphic>
          <a:graphicData uri="http://schemas.openxmlformats.org/drawingml/2006/table">
            <a:tbl>
              <a:tblPr/>
              <a:tblGrid>
                <a:gridCol w="852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62080">
                  <a:extLst>
                    <a:ext uri="{9D8B030D-6E8A-4147-A177-3AD203B41FA5}">
                      <a16:colId xmlns:a16="http://schemas.microsoft.com/office/drawing/2014/main" val="1253022269"/>
                    </a:ext>
                  </a:extLst>
                </a:gridCol>
              </a:tblGrid>
              <a:tr h="70177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Uniform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Merchandise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7A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Magic Box SP(@10% Inc)</a:t>
                      </a:r>
                    </a:p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7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Regular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Sports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Socks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Belts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Caps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Scarf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Text 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Note Books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Stationary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Bags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Bottle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Shoe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86">
                <a:tc rowSpan="7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A3B10"/>
                          </a:solidFill>
                        </a:rPr>
                        <a:t>Primary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1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3 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kern="1200" noProof="0" dirty="0">
                          <a:solidFill>
                            <a:srgbClr val="3A2B20"/>
                          </a:solidFill>
                          <a:latin typeface="+mn-lt"/>
                          <a:ea typeface="+mn-ea"/>
                          <a:cs typeface="+mn-cs"/>
                        </a:rPr>
                        <a:t>2 Sports T-shirt, 1 Shorts</a:t>
                      </a:r>
                      <a:endParaRPr lang="en-US" sz="1000" kern="1200" dirty="0">
                        <a:solidFill>
                          <a:srgbClr val="3A2B2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4 Pairs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2 pair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2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3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4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5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6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A2B2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A2B20"/>
                          </a:solidFill>
                        </a:rPr>
                        <a:t>Grade 7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Shirts, 2 Skirts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Sports T-shirt, 1 Shorts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Pairs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A2B20"/>
                          </a:solidFill>
                        </a:rPr>
                        <a:t>1 nos</a:t>
                      </a:r>
                      <a:endParaRPr lang="en-US" sz="1000" dirty="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A2B2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pair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C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6355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EAF6FC"/>
          </a:solidFill>
          <a:ln w="12700">
            <a:solidFill>
              <a:srgbClr val="A9DD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6"/>
          <p:cNvSpPr/>
          <p:nvPr/>
        </p:nvSpPr>
        <p:spPr>
          <a:xfrm>
            <a:off x="493776" y="6437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EE7F5"/>
          </a:solidFill>
          <a:ln w="6350">
            <a:solidFill>
              <a:srgbClr val="9FD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" y="6355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 blue header are new inclusions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082735" y="63550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9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YIPS   •   Slide 7 of 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70851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5353</TotalTime>
  <Words>6413</Words>
  <Application>Microsoft Office PowerPoint</Application>
  <PresentationFormat>Widescreen</PresentationFormat>
  <Paragraphs>2565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Archana Dwibedy</cp:lastModifiedBy>
  <cp:revision>7</cp:revision>
  <dcterms:created xsi:type="dcterms:W3CDTF">2026-09-04T10:52:37Z</dcterms:created>
  <dcterms:modified xsi:type="dcterms:W3CDTF">2026-09-08T04:29:29Z</dcterms:modified>
</cp:coreProperties>
</file>