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</p:sldIdLst>
  <p:sldSz cx="16256000" cy="9144000"/>
  <p:notesSz cx="9144000" cy="16256000"/>
  <p:embeddedFontLst>
    <p:embeddedFont>
      <p:font typeface="Liter" panose="020B0604020202020204" charset="0"/>
      <p:regular r:id="rId24"/>
    </p:embeddedFont>
    <p:embeddedFont>
      <p:font typeface="Quattrocento Sans" panose="020B0502050000020003" pitchFamily="34" charset="0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7" d="100"/>
          <a:sy n="47" d="100"/>
        </p:scale>
        <p:origin x="7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09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016000" cy="50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270000"/>
            <a:ext cx="1016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INVENTRE</a:t>
            </a:r>
            <a:endParaRPr lang="en-US" sz="4800" dirty="0"/>
          </a:p>
          <a:p>
            <a:pPr algn="l">
              <a:lnSpc>
                <a:spcPct val="120000"/>
              </a:lnSpc>
            </a:pPr>
            <a:r>
              <a:rPr lang="en-US" sz="48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PLATFORM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62000" y="3111500"/>
            <a:ext cx="2540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3365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Solution Architecture &amp; System Walkthrough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6350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for: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Inventre — Board &amp; Executive Leadership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67945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by: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Siddhrans Infotech Private Limited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7239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July 2026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8382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 · PREPARED FOR INVENTRE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240000" y="1016000"/>
            <a:ext cx="38100" cy="7112000"/>
          </a:xfrm>
          <a:prstGeom prst="rect">
            <a:avLst/>
          </a:prstGeom>
          <a:solidFill>
            <a:srgbClr val="C9A227">
              <a:alpha val="20000"/>
            </a:srgbClr>
          </a:solidFill>
          <a:ln/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81000"/>
            <a:ext cx="508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kern="0" spc="3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24000" y="1524000"/>
            <a:ext cx="584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LANDSCAPE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24000" y="1879600"/>
            <a:ext cx="584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complete enterprise ecosystem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2286000"/>
            <a:ext cx="6858000" cy="12700"/>
          </a:xfrm>
          <a:prstGeom prst="rect">
            <a:avLst/>
          </a:prstGeom>
          <a:solidFill>
            <a:srgbClr val="D1CBC0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476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24000" y="2476500"/>
            <a:ext cx="584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JOURNEY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24000" y="2832100"/>
            <a:ext cx="584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flow across all systems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3238500"/>
            <a:ext cx="6858000" cy="12700"/>
          </a:xfrm>
          <a:prstGeom prst="rect">
            <a:avLst/>
          </a:prstGeom>
          <a:solidFill>
            <a:srgbClr val="D1CBC0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4290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24000" y="3429000"/>
            <a:ext cx="584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THREE PLATFORMS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24000" y="3784600"/>
            <a:ext cx="584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rationale &amp; interaction matrix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2000" y="4191000"/>
            <a:ext cx="6858000" cy="12700"/>
          </a:xfrm>
          <a:prstGeom prst="rect">
            <a:avLst/>
          </a:prstGeom>
          <a:solidFill>
            <a:srgbClr val="D1CBC0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4381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524000" y="4381500"/>
            <a:ext cx="584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ECOMMERCE DEEP DIVE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24000" y="4737100"/>
            <a:ext cx="584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experience architecture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82000" y="15240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144000" y="15240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ERP DEEP DIVE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0" y="18796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operations architecture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382000" y="2286000"/>
            <a:ext cx="7112000" cy="12700"/>
          </a:xfrm>
          <a:prstGeom prst="rect">
            <a:avLst/>
          </a:prstGeom>
          <a:solidFill>
            <a:srgbClr val="D1CBC0"/>
          </a:solidFill>
          <a:ln/>
        </p:spPr>
      </p:sp>
      <p:sp>
        <p:nvSpPr>
          <p:cNvPr id="23" name="Text 21"/>
          <p:cNvSpPr/>
          <p:nvPr/>
        </p:nvSpPr>
        <p:spPr>
          <a:xfrm>
            <a:off x="8382000" y="2476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44000" y="24765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NXT DEEP DIVE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0" y="28321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intelligence architecture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382000" y="3238500"/>
            <a:ext cx="7112000" cy="12700"/>
          </a:xfrm>
          <a:prstGeom prst="rect">
            <a:avLst/>
          </a:prstGeom>
          <a:solidFill>
            <a:srgbClr val="D1CBC0"/>
          </a:solidFill>
          <a:ln/>
        </p:spPr>
      </p:sp>
      <p:sp>
        <p:nvSpPr>
          <p:cNvPr id="27" name="Text 25"/>
          <p:cNvSpPr/>
          <p:nvPr/>
        </p:nvSpPr>
        <p:spPr>
          <a:xfrm>
            <a:off x="8382000" y="34290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144000" y="34290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&amp; SECURITY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0" y="37846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Cross-system connectivity &amp; governance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82000" y="4191000"/>
            <a:ext cx="7112000" cy="12700"/>
          </a:xfrm>
          <a:prstGeom prst="rect">
            <a:avLst/>
          </a:prstGeom>
          <a:solidFill>
            <a:srgbClr val="D1CBC0"/>
          </a:solidFill>
          <a:ln/>
        </p:spPr>
      </p:sp>
      <p:sp>
        <p:nvSpPr>
          <p:cNvPr id="31" name="Text 29"/>
          <p:cNvSpPr/>
          <p:nvPr/>
        </p:nvSpPr>
        <p:spPr>
          <a:xfrm>
            <a:off x="8382000" y="4381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9144000" y="43815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&amp; OWNERSHIP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144000" y="47371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Infrastructure, investment &amp; next steps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62000" y="5334000"/>
            <a:ext cx="14732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5" name="Text 33"/>
          <p:cNvSpPr/>
          <p:nvPr/>
        </p:nvSpPr>
        <p:spPr>
          <a:xfrm>
            <a:off x="762000" y="8382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 · PREPARED FOR INVENTRE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4986000" y="8382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72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429000"/>
            <a:ext cx="1524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683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LANDSCAPE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445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Complete Enterprise Ecosystem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8382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 · PREPARED FOR INVENTRE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17500"/>
            <a:ext cx="508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kern="0" spc="3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INVENTRE ENTERPRISE ECOSYSTEM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33500" y="1143000"/>
            <a:ext cx="2286000" cy="5080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114300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👤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00500" y="1143000"/>
            <a:ext cx="2286000" cy="5080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00500" y="114300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🏫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Schools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67500" y="1143000"/>
            <a:ext cx="2286000" cy="5080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7500" y="114300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💼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Management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334500" y="1143000"/>
            <a:ext cx="2286000" cy="5080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34500" y="114300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📦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Warehouse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001500" y="1143000"/>
            <a:ext cx="2286000" cy="5080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01500" y="114300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🚚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Vendors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10500" y="1651000"/>
            <a:ext cx="0" cy="381000"/>
          </a:xfrm>
          <a:prstGeom prst="straightConnector1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333500" y="2032000"/>
            <a:ext cx="12954000" cy="10160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16" name="Text 14"/>
          <p:cNvSpPr/>
          <p:nvPr/>
        </p:nvSpPr>
        <p:spPr>
          <a:xfrm>
            <a:off x="1587500" y="2095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INVENTRE eCOMMERCE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87500" y="24511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Experience Platform · 31 Modules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21336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Orders · Registration · Payments · Tracking · Returns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Catalogue · Cart · Coupons · Notifications · Admin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10500" y="3048000"/>
            <a:ext cx="0" cy="31750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333500" y="3365500"/>
            <a:ext cx="12954000" cy="10160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21" name="Text 19"/>
          <p:cNvSpPr/>
          <p:nvPr/>
        </p:nvSpPr>
        <p:spPr>
          <a:xfrm>
            <a:off x="1587500" y="342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INVENTRE ERP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87500" y="37846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Operations Platform · 24 Modules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0" y="34671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Warehouse · Inventory · Purchase · Finance · Call Centre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CRM · Master Data · Reports · Dispatch · Procurement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10500" y="4381500"/>
            <a:ext cx="0" cy="31750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333500" y="4699000"/>
            <a:ext cx="12954000" cy="1016000"/>
          </a:xfrm>
          <a:prstGeom prst="rect">
            <a:avLst/>
          </a:prstGeom>
          <a:solidFill>
            <a:srgbClr val="0F2E25"/>
          </a:solidFill>
          <a:ln/>
        </p:spPr>
      </p:sp>
      <p:sp>
        <p:nvSpPr>
          <p:cNvPr id="26" name="Text 24"/>
          <p:cNvSpPr/>
          <p:nvPr/>
        </p:nvSpPr>
        <p:spPr>
          <a:xfrm>
            <a:off x="1587500" y="4762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INVENTRE NXT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87500" y="51181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Intelligence Platform · 12 Modules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0" y="4800600"/>
            <a:ext cx="711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Analytics · Dashboards · Predictions · KPIs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Reports · Parent CRM · Vendor Management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810500" y="5715000"/>
            <a:ext cx="0" cy="31750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4318000" y="6032500"/>
            <a:ext cx="6985000" cy="50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4318000" y="6032500"/>
            <a:ext cx="698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LEADERSHIP · DECISION MAKING · STRATEGIC VISIBILITY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62000" y="6629400"/>
            <a:ext cx="254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1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EXTERNAL SYSTEMS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333500" y="7137400"/>
            <a:ext cx="2159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33500" y="7137400"/>
            <a:ext cx="215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CCAvenue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746500" y="7137400"/>
            <a:ext cx="2159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6500" y="7137400"/>
            <a:ext cx="215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Porter Logistics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59500" y="7137400"/>
            <a:ext cx="2159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59500" y="7137400"/>
            <a:ext cx="215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MCB School ERP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572500" y="7137400"/>
            <a:ext cx="2159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72500" y="7137400"/>
            <a:ext cx="215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SMS / Email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0985500" y="7137400"/>
            <a:ext cx="2159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985500" y="7137400"/>
            <a:ext cx="215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ERPNext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413000" y="6858000"/>
            <a:ext cx="0" cy="27940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dash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4826000" y="6858000"/>
            <a:ext cx="0" cy="27940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dash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7239000" y="6858000"/>
            <a:ext cx="0" cy="27940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dash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9652000" y="6858000"/>
            <a:ext cx="0" cy="27940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dash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12065000" y="6858000"/>
            <a:ext cx="0" cy="27940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dash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2413000" y="6858000"/>
            <a:ext cx="9652000" cy="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dash"/>
            <a:headEnd type="none"/>
            <a:tailEnd type="none"/>
          </a:ln>
        </p:spPr>
      </p:sp>
      <p:sp>
        <p:nvSpPr>
          <p:cNvPr id="49" name="Text 47"/>
          <p:cNvSpPr/>
          <p:nvPr/>
        </p:nvSpPr>
        <p:spPr>
          <a:xfrm>
            <a:off x="1333500" y="78105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67</a:t>
            </a:r>
            <a:r>
              <a:rPr lang="en-US" sz="16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TOTAL MODULES ACROSS ALL PLATFORMS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762000" y="8382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 · PREPARED FOR INVENTRE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4986000" y="8382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72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429000"/>
            <a:ext cx="1524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683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JOURNEY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445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Order, Every System, Complete Visibility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8382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 · PREPARED FOR INVENTRE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17500"/>
            <a:ext cx="508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kern="0" spc="3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BUSINESS LANDSCAPE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990600"/>
            <a:ext cx="1016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order touches every system automatically. Zero manual handoffs.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1651000" cy="7620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460500"/>
            <a:ext cx="165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Parent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Logs in via OTP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13000" y="1841500"/>
            <a:ext cx="3175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2730500" y="1460500"/>
            <a:ext cx="1651000" cy="7620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9" name="Text 7"/>
          <p:cNvSpPr/>
          <p:nvPr/>
        </p:nvSpPr>
        <p:spPr>
          <a:xfrm>
            <a:off x="2730500" y="1460500"/>
            <a:ext cx="165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School catalogue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1500" y="1841500"/>
            <a:ext cx="3175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699000" y="1460500"/>
            <a:ext cx="1651000" cy="7620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12" name="Text 10"/>
          <p:cNvSpPr/>
          <p:nvPr/>
        </p:nvSpPr>
        <p:spPr>
          <a:xfrm>
            <a:off x="4699000" y="1460500"/>
            <a:ext cx="165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Cart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coupon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0000" y="1841500"/>
            <a:ext cx="3175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6667500" y="1460500"/>
            <a:ext cx="1651000" cy="7620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15" name="Text 13"/>
          <p:cNvSpPr/>
          <p:nvPr/>
        </p:nvSpPr>
        <p:spPr>
          <a:xfrm>
            <a:off x="6667500" y="1460500"/>
            <a:ext cx="165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CCAvenue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18500" y="1841500"/>
            <a:ext cx="3175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8636000" y="1460500"/>
            <a:ext cx="1651000" cy="7620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18" name="Text 16"/>
          <p:cNvSpPr/>
          <p:nvPr/>
        </p:nvSpPr>
        <p:spPr>
          <a:xfrm>
            <a:off x="8636000" y="1460500"/>
            <a:ext cx="165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Confirmation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Invoice generated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287000" y="1841500"/>
            <a:ext cx="3175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0604500" y="1460500"/>
            <a:ext cx="1651000" cy="7620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21" name="Text 19"/>
          <p:cNvSpPr/>
          <p:nvPr/>
        </p:nvSpPr>
        <p:spPr>
          <a:xfrm>
            <a:off x="10604500" y="1460500"/>
            <a:ext cx="165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shipment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2000" y="2286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kern="0" spc="100" dirty="0">
                <a:solidFill>
                  <a:srgbClr val="2E7D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▼ eCOMMERCE PLATFORM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32000" y="2667000"/>
            <a:ext cx="1905000" cy="7620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24" name="Text 22"/>
          <p:cNvSpPr/>
          <p:nvPr/>
        </p:nvSpPr>
        <p:spPr>
          <a:xfrm>
            <a:off x="2032000" y="266700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ERP Receives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auto-synced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937000" y="3048000"/>
            <a:ext cx="3810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4318000" y="2667000"/>
            <a:ext cx="1905000" cy="7620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27" name="Text 25"/>
          <p:cNvSpPr/>
          <p:nvPr/>
        </p:nvSpPr>
        <p:spPr>
          <a:xfrm>
            <a:off x="4318000" y="266700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Warehouse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BOM-driven packing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23000" y="3048000"/>
            <a:ext cx="3810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6604000" y="2667000"/>
            <a:ext cx="1905000" cy="7620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0" name="Text 28"/>
          <p:cNvSpPr/>
          <p:nvPr/>
        </p:nvSpPr>
        <p:spPr>
          <a:xfrm>
            <a:off x="6604000" y="266700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Dispatch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Carrier API sync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09000" y="3048000"/>
            <a:ext cx="3810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8890000" y="2667000"/>
            <a:ext cx="1905000" cy="7620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3" name="Text 31"/>
          <p:cNvSpPr/>
          <p:nvPr/>
        </p:nvSpPr>
        <p:spPr>
          <a:xfrm>
            <a:off x="8890000" y="266700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Delivery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RTO monitoring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795000" y="3048000"/>
            <a:ext cx="3810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11176000" y="2667000"/>
            <a:ext cx="1905000" cy="7620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6" name="Text 34"/>
          <p:cNvSpPr/>
          <p:nvPr/>
        </p:nvSpPr>
        <p:spPr>
          <a:xfrm>
            <a:off x="11176000" y="266700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Finance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GST reconciliation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032000" y="3492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kern="0" spc="1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▼ ERP PLATFORM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02000" y="3937000"/>
            <a:ext cx="2286000" cy="762000"/>
          </a:xfrm>
          <a:prstGeom prst="rect">
            <a:avLst/>
          </a:prstGeom>
          <a:solidFill>
            <a:srgbClr val="0F2E25"/>
          </a:solidFill>
          <a:ln/>
        </p:spPr>
      </p:sp>
      <p:sp>
        <p:nvSpPr>
          <p:cNvPr id="39" name="Text 37"/>
          <p:cNvSpPr/>
          <p:nvPr/>
        </p:nvSpPr>
        <p:spPr>
          <a:xfrm>
            <a:off x="3302000" y="39370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Management Dashboard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visibility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588000" y="4318000"/>
            <a:ext cx="5080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6096000" y="3937000"/>
            <a:ext cx="2286000" cy="762000"/>
          </a:xfrm>
          <a:prstGeom prst="rect">
            <a:avLst/>
          </a:prstGeom>
          <a:solidFill>
            <a:srgbClr val="0F2E25"/>
          </a:solidFill>
          <a:ln/>
        </p:spPr>
      </p:sp>
      <p:sp>
        <p:nvSpPr>
          <p:cNvPr id="42" name="Text 40"/>
          <p:cNvSpPr/>
          <p:nvPr/>
        </p:nvSpPr>
        <p:spPr>
          <a:xfrm>
            <a:off x="6096000" y="39370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Analytics Engine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Trends &amp; predictions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382000" y="4318000"/>
            <a:ext cx="5080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8890000" y="3937000"/>
            <a:ext cx="2286000" cy="762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5" name="Text 43"/>
          <p:cNvSpPr/>
          <p:nvPr/>
        </p:nvSpPr>
        <p:spPr>
          <a:xfrm>
            <a:off x="8890000" y="39370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LEADERSHIP</a:t>
            </a:r>
            <a:endParaRPr lang="en-US" sz="13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ready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302000" y="4762500"/>
            <a:ext cx="292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kern="0" spc="100" dirty="0">
                <a:solidFill>
                  <a:srgbClr val="0F2E2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▼ NXT INTELLIGENCE PLATFORM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1430000" y="1371600"/>
            <a:ext cx="0" cy="63500"/>
          </a:xfrm>
          <a:prstGeom prst="straightConnector1">
            <a:avLst/>
          </a:prstGeom>
          <a:noFill/>
          <a:ln w="12700">
            <a:solidFill>
              <a:srgbClr val="6B7280"/>
            </a:solidFill>
            <a:prstDash val="dash"/>
            <a:headEnd type="arrow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2476500" y="1371600"/>
            <a:ext cx="8953500" cy="0"/>
          </a:xfrm>
          <a:prstGeom prst="straightConnector1">
            <a:avLst/>
          </a:prstGeom>
          <a:noFill/>
          <a:ln w="12700">
            <a:solidFill>
              <a:srgbClr val="6B7280"/>
            </a:solidFill>
            <a:prstDash val="dash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2476500" y="1371600"/>
            <a:ext cx="0" cy="88900"/>
          </a:xfrm>
          <a:prstGeom prst="straightConnector1">
            <a:avLst/>
          </a:prstGeom>
          <a:noFill/>
          <a:ln w="12700">
            <a:solidFill>
              <a:srgbClr val="6B7280"/>
            </a:solidFill>
            <a:prstDash val="dash"/>
            <a:headEnd type="none"/>
            <a:tailEnd type="none"/>
          </a:ln>
        </p:spPr>
      </p:sp>
      <p:sp>
        <p:nvSpPr>
          <p:cNvPr id="50" name="Text 48"/>
          <p:cNvSpPr/>
          <p:nvPr/>
        </p:nvSpPr>
        <p:spPr>
          <a:xfrm>
            <a:off x="11557000" y="10414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 updates back to parent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62000" y="5334000"/>
            <a:ext cx="14732000" cy="12700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16000" y="54356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16000" y="57785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order touches </a:t>
            </a: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system automatically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parent sees live tracking, the warehouse sees a packed order, finance sees a reconciled invoice, and leadership sees the number roll into the dashboard — </a:t>
            </a: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a single manual handoff</a:t>
            </a: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62000" y="6921500"/>
            <a:ext cx="228600" cy="2286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55" name="Text 53"/>
          <p:cNvSpPr/>
          <p:nvPr/>
        </p:nvSpPr>
        <p:spPr>
          <a:xfrm>
            <a:off x="1066800" y="68961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eCommerce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794000" y="6921500"/>
            <a:ext cx="228600" cy="2286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57" name="Text 55"/>
          <p:cNvSpPr/>
          <p:nvPr/>
        </p:nvSpPr>
        <p:spPr>
          <a:xfrm>
            <a:off x="3098800" y="68961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ERP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445000" y="6921500"/>
            <a:ext cx="228600" cy="228600"/>
          </a:xfrm>
          <a:prstGeom prst="rect">
            <a:avLst/>
          </a:prstGeom>
          <a:solidFill>
            <a:srgbClr val="0F2E25"/>
          </a:solidFill>
          <a:ln/>
        </p:spPr>
      </p:sp>
      <p:sp>
        <p:nvSpPr>
          <p:cNvPr id="59" name="Text 57"/>
          <p:cNvSpPr/>
          <p:nvPr/>
        </p:nvSpPr>
        <p:spPr>
          <a:xfrm>
            <a:off x="4749800" y="68961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NXT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62000" y="8382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 · PREPARED FOR INVENTRE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4986000" y="8382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72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429000"/>
            <a:ext cx="1524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683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THREE PLATFORMS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445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Purpose-Built Architecture, Not Three Random Applications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8382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 · PREPARED FOR INVENTRE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17500"/>
            <a:ext cx="508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397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kern="0" spc="3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THREE-PLATFORM ARCHITECTURE &amp; INTERACTION MATRIX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4318000" cy="11430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270000"/>
            <a:ext cx="393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kern="0" spc="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INVENTRE eCOMMERCE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393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Customer-facing: orders, payments,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catalogue, tracking, returns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1000" y="2349500"/>
            <a:ext cx="0" cy="44450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8" name="Text 6"/>
          <p:cNvSpPr/>
          <p:nvPr/>
        </p:nvSpPr>
        <p:spPr>
          <a:xfrm>
            <a:off x="3048000" y="241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Orders, Payments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2000" y="2794000"/>
            <a:ext cx="4318000" cy="11430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857500"/>
            <a:ext cx="393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kern="0" spc="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INVENTRE ERP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2500" y="3187700"/>
            <a:ext cx="393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Operations: warehouse, inventory,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finance, call centre, procurement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1000" y="3937000"/>
            <a:ext cx="0" cy="44450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3048000" y="4025900"/>
            <a:ext cx="177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operational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62000" y="4381500"/>
            <a:ext cx="4318000" cy="1143000"/>
          </a:xfrm>
          <a:prstGeom prst="rect">
            <a:avLst/>
          </a:prstGeom>
          <a:solidFill>
            <a:srgbClr val="0F2E25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4445000"/>
            <a:ext cx="393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kern="0" spc="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INVENTRE NXT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2500" y="4775200"/>
            <a:ext cx="393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Intelligence: dashboards, analytics,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predictions, executive reports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flipV="1">
            <a:off x="5080000" y="1778000"/>
            <a:ext cx="762000" cy="3048000"/>
          </a:xfrm>
          <a:prstGeom prst="straightConnector1">
            <a:avLst/>
          </a:prstGeom>
          <a:noFill/>
          <a:ln w="12700">
            <a:solidFill>
              <a:srgbClr val="4A9B73"/>
            </a:solidFill>
            <a:prstDash val="dash"/>
            <a:headEnd type="none"/>
            <a:tailEnd type="arrow"/>
          </a:ln>
        </p:spPr>
      </p:sp>
      <p:sp>
        <p:nvSpPr>
          <p:cNvPr id="18" name="Text 16"/>
          <p:cNvSpPr/>
          <p:nvPr/>
        </p:nvSpPr>
        <p:spPr>
          <a:xfrm>
            <a:off x="5905500" y="29845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00" dirty="0">
                <a:solidFill>
                  <a:srgbClr val="4A9B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1206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kern="0" spc="1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INTERACTION MATRIX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587500"/>
          <a:ext cx="8636000" cy="3937000"/>
        </p:xfrm>
        <a:graphic>
          <a:graphicData uri="http://schemas.openxmlformats.org/drawingml/2006/table">
            <a:tbl>
              <a:tblPr/>
              <a:tblGrid>
                <a:gridCol w="302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9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Capability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eCom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ERP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NXT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45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Orders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45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Payments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45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Inventory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45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Warehouse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45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Analytics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45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Parent Portal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45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CRM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645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Executive KPI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45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Procurement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45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Call Centre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762000" y="5969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enterprise organises itself into layers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because each layer has a different responsibility. Amazon, SAP, Oracle and Microsoft are all built this way. eCommerce owns the customer experience. ERP owns business operations. NXT owns enterprise intelligence.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62000" y="8382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 · PREPARED FOR INVENTRE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4986000" y="8382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72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429000"/>
            <a:ext cx="1524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683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ECOMMERCE DEEP DIVE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445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Everything the Parent and Student Experience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8382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 · PREPARED FOR INVENTRE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17500"/>
            <a:ext cx="508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kern="0" spc="3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INVENTRE eCOMMERCE — PLATFORM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0414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kern="0" spc="1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40000" y="1016000"/>
            <a:ext cx="1905000" cy="4064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40000" y="1016000"/>
            <a:ext cx="190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Parent / Student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99000" y="1016000"/>
            <a:ext cx="1905000" cy="4064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9000" y="1016000"/>
            <a:ext cx="190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School Admin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422400"/>
            <a:ext cx="0" cy="22860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solid"/>
            <a:headEnd type="none"/>
            <a:tailEnd type="arrow"/>
          </a:ln>
        </p:spPr>
      </p:sp>
      <p:sp>
        <p:nvSpPr>
          <p:cNvPr id="10" name="Text 8"/>
          <p:cNvSpPr/>
          <p:nvPr/>
        </p:nvSpPr>
        <p:spPr>
          <a:xfrm>
            <a:off x="762000" y="17399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kern="0" spc="1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40000" y="1651000"/>
            <a:ext cx="4064000" cy="406400"/>
          </a:xfrm>
          <a:prstGeom prst="rect">
            <a:avLst/>
          </a:prstGeom>
          <a:solidFill>
            <a:srgbClr val="4A9B73"/>
          </a:solidFill>
          <a:ln/>
        </p:spPr>
      </p:sp>
      <p:sp>
        <p:nvSpPr>
          <p:cNvPr id="12" name="Text 10"/>
          <p:cNvSpPr/>
          <p:nvPr/>
        </p:nvSpPr>
        <p:spPr>
          <a:xfrm>
            <a:off x="2540000" y="16510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Mobile-Responsive Web Storefront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057400"/>
            <a:ext cx="0" cy="22860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solid"/>
            <a:headEnd type="none"/>
            <a:tailEnd type="arrow"/>
          </a:ln>
        </p:spPr>
      </p:sp>
      <p:sp>
        <p:nvSpPr>
          <p:cNvPr id="14" name="Text 12"/>
          <p:cNvSpPr/>
          <p:nvPr/>
        </p:nvSpPr>
        <p:spPr>
          <a:xfrm>
            <a:off x="762000" y="23749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kern="0" spc="1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40000" y="2286000"/>
            <a:ext cx="4064000" cy="406400"/>
          </a:xfrm>
          <a:prstGeom prst="rect">
            <a:avLst/>
          </a:prstGeom>
          <a:solidFill>
            <a:srgbClr val="4A9B73"/>
          </a:solidFill>
          <a:ln/>
        </p:spPr>
      </p:sp>
      <p:sp>
        <p:nvSpPr>
          <p:cNvPr id="16" name="Text 14"/>
          <p:cNvSpPr/>
          <p:nvPr/>
        </p:nvSpPr>
        <p:spPr>
          <a:xfrm>
            <a:off x="2540000" y="22860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OTP Login · RBAC · Session Management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2692400"/>
            <a:ext cx="0" cy="22860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solid"/>
            <a:headEnd type="none"/>
            <a:tailEnd type="arrow"/>
          </a:ln>
        </p:spPr>
      </p:sp>
      <p:sp>
        <p:nvSpPr>
          <p:cNvPr id="18" name="Text 16"/>
          <p:cNvSpPr/>
          <p:nvPr/>
        </p:nvSpPr>
        <p:spPr>
          <a:xfrm>
            <a:off x="762000" y="30099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kern="0" spc="1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33500" y="3302000"/>
            <a:ext cx="2159000" cy="8890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20" name="Text 18"/>
          <p:cNvSpPr/>
          <p:nvPr/>
        </p:nvSpPr>
        <p:spPr>
          <a:xfrm>
            <a:off x="1333500" y="33020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Catalogue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Products · Categories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School-Grade Map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83000" y="3302000"/>
            <a:ext cx="2159000" cy="8890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22" name="Text 20"/>
          <p:cNvSpPr/>
          <p:nvPr/>
        </p:nvSpPr>
        <p:spPr>
          <a:xfrm>
            <a:off x="3683000" y="33020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Cart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Items · Coupons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Checkout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2500" y="3302000"/>
            <a:ext cx="2159000" cy="8890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24" name="Text 22"/>
          <p:cNvSpPr/>
          <p:nvPr/>
        </p:nvSpPr>
        <p:spPr>
          <a:xfrm>
            <a:off x="6032500" y="33020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Orders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Lifecycle · Status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82000" y="3302000"/>
            <a:ext cx="2159000" cy="8890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26" name="Text 24"/>
          <p:cNvSpPr/>
          <p:nvPr/>
        </p:nvSpPr>
        <p:spPr>
          <a:xfrm>
            <a:off x="8382000" y="33020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Payments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CCAvenue · UPI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Cards · NetBanking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731500" y="3302000"/>
            <a:ext cx="2159000" cy="8890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28" name="Text 26"/>
          <p:cNvSpPr/>
          <p:nvPr/>
        </p:nvSpPr>
        <p:spPr>
          <a:xfrm>
            <a:off x="10731500" y="33020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Notifications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SMS · Email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Push Alerts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3081000" y="3302000"/>
            <a:ext cx="2159000" cy="8890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30" name="Text 28"/>
          <p:cNvSpPr/>
          <p:nvPr/>
        </p:nvSpPr>
        <p:spPr>
          <a:xfrm>
            <a:off x="13081000" y="33020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Tracking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Shipment · Delivery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Returns / RMA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4191000"/>
            <a:ext cx="0" cy="22860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solid"/>
            <a:headEnd type="none"/>
            <a:tailEnd type="arrow"/>
          </a:ln>
        </p:spPr>
      </p:sp>
      <p:sp>
        <p:nvSpPr>
          <p:cNvPr id="32" name="Text 30"/>
          <p:cNvSpPr/>
          <p:nvPr/>
        </p:nvSpPr>
        <p:spPr>
          <a:xfrm>
            <a:off x="762000" y="45085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kern="0" spc="1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40000" y="4419600"/>
            <a:ext cx="4064000" cy="4064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34" name="Text 32"/>
          <p:cNvSpPr/>
          <p:nvPr/>
        </p:nvSpPr>
        <p:spPr>
          <a:xfrm>
            <a:off x="2540000" y="44196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· Order Records · Customer Data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0" y="4826000"/>
            <a:ext cx="0" cy="22860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solid"/>
            <a:headEnd type="none"/>
            <a:tailEnd type="arrow"/>
          </a:ln>
        </p:spPr>
      </p:sp>
      <p:sp>
        <p:nvSpPr>
          <p:cNvPr id="36" name="Text 34"/>
          <p:cNvSpPr/>
          <p:nvPr/>
        </p:nvSpPr>
        <p:spPr>
          <a:xfrm>
            <a:off x="762000" y="51435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kern="0" spc="1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333500" y="5435600"/>
            <a:ext cx="2159000" cy="4064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33500" y="5435600"/>
            <a:ext cx="215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ERP Bridge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83000" y="5435600"/>
            <a:ext cx="2159000" cy="4064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83000" y="5435600"/>
            <a:ext cx="215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CCAvenue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32500" y="5435600"/>
            <a:ext cx="2159000" cy="4064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2500" y="5435600"/>
            <a:ext cx="215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Porter Logistics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382000" y="5435600"/>
            <a:ext cx="2159000" cy="4064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82000" y="5435600"/>
            <a:ext cx="215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MCB School ERP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731500" y="5435600"/>
            <a:ext cx="2159000" cy="4064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731500" y="5435600"/>
            <a:ext cx="215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SMS Gateway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3081000" y="5435600"/>
            <a:ext cx="2159000" cy="4064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081000" y="5435600"/>
            <a:ext cx="215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SMTP / Email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333500" y="6159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31</a:t>
            </a:r>
            <a:r>
              <a:rPr lang="en-US" sz="16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OPERATIONAL MODULES IN ADMIN BACKEND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762000" y="8382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 · PREPARED FOR INVENTRE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4986000" y="8382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17500"/>
            <a:ext cx="508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kern="0" spc="3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INVENTRE eCOMMERCE — CUSTOMER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1651000" cy="10160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22400"/>
            <a:ext cx="165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1714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LOGIN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OTP mobile login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13000" y="1905000"/>
            <a:ext cx="2540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2667000" y="1397000"/>
            <a:ext cx="1651000" cy="10160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9" name="Text 7"/>
          <p:cNvSpPr/>
          <p:nvPr/>
        </p:nvSpPr>
        <p:spPr>
          <a:xfrm>
            <a:off x="2667000" y="1422400"/>
            <a:ext cx="165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67000" y="1714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School-linked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8000" y="1905000"/>
            <a:ext cx="2540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4572000" y="1397000"/>
            <a:ext cx="1651000" cy="10160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422400"/>
            <a:ext cx="165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714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School catalogue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23000" y="1905000"/>
            <a:ext cx="2540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6477000" y="1397000"/>
            <a:ext cx="1651000" cy="10160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17" name="Text 15"/>
          <p:cNvSpPr/>
          <p:nvPr/>
        </p:nvSpPr>
        <p:spPr>
          <a:xfrm>
            <a:off x="6477000" y="1422400"/>
            <a:ext cx="165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77000" y="1714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CART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Coupons · Checkout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0" y="1905000"/>
            <a:ext cx="2540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8382000" y="1397000"/>
            <a:ext cx="1651000" cy="10160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21" name="Text 19"/>
          <p:cNvSpPr/>
          <p:nvPr/>
        </p:nvSpPr>
        <p:spPr>
          <a:xfrm>
            <a:off x="8382000" y="1422400"/>
            <a:ext cx="165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82000" y="1714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CCAvenue secure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033000" y="1905000"/>
            <a:ext cx="2540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0287000" y="1397000"/>
            <a:ext cx="1651000" cy="10160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25" name="Text 23"/>
          <p:cNvSpPr/>
          <p:nvPr/>
        </p:nvSpPr>
        <p:spPr>
          <a:xfrm>
            <a:off x="10287000" y="1422400"/>
            <a:ext cx="165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287000" y="1714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Invoice generated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1938000" y="1905000"/>
            <a:ext cx="2540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2192000" y="1397000"/>
            <a:ext cx="1651000" cy="10160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29" name="Text 27"/>
          <p:cNvSpPr/>
          <p:nvPr/>
        </p:nvSpPr>
        <p:spPr>
          <a:xfrm>
            <a:off x="12192000" y="1422400"/>
            <a:ext cx="165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192000" y="1714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via Porter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3843000" y="1905000"/>
            <a:ext cx="2540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14097000" y="1397000"/>
            <a:ext cx="1651000" cy="1016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/>
          <p:nvPr/>
        </p:nvSpPr>
        <p:spPr>
          <a:xfrm>
            <a:off x="14097000" y="1422400"/>
            <a:ext cx="165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4097000" y="1714500"/>
            <a:ext cx="16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window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62000" y="2921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VALUE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62000" y="3327400"/>
            <a:ext cx="3429000" cy="6350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9000" y="33274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3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Reduces manual work for coordinators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381500" y="3327400"/>
            <a:ext cx="3429000" cy="6350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08500" y="33274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3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Faster ordering, fewer errors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001000" y="3327400"/>
            <a:ext cx="3429000" cy="6350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28000" y="33274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3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Real-time order tracking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1620500" y="3327400"/>
            <a:ext cx="3429000" cy="6350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747500" y="33274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3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Materially fewer support calls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62000" y="8382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 · PREPARED FOR INVENTRE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4986000" y="8382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72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429000"/>
            <a:ext cx="1524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683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ERP DEEP DIVE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445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the Business Runs, Day to Day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8382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 · PREPARED FOR INVENTRE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17500"/>
            <a:ext cx="508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kern="0" spc="3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INVENTRE ERP — PLATFORM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23000" y="3048000"/>
            <a:ext cx="3810000" cy="10160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5" name="Text 3"/>
          <p:cNvSpPr/>
          <p:nvPr/>
        </p:nvSpPr>
        <p:spPr>
          <a:xfrm>
            <a:off x="6223000" y="3111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ERP CORE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23000" y="3492500"/>
            <a:ext cx="381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Processing · Master Data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24000" y="1270000"/>
            <a:ext cx="2540000" cy="8255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1270000"/>
            <a:ext cx="254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WAREHOUSE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 · Packing · Dispatch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Mismatch Detection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64000" y="2095500"/>
            <a:ext cx="2159000" cy="95250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6858000" y="1270000"/>
            <a:ext cx="2540000" cy="8255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1270000"/>
            <a:ext cx="254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INVENTORY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Sync · Stock Alerts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Negative Stock Flags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0" y="2095500"/>
            <a:ext cx="0" cy="95250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12192000" y="1270000"/>
            <a:ext cx="2540000" cy="8255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14" name="Text 12"/>
          <p:cNvSpPr/>
          <p:nvPr/>
        </p:nvSpPr>
        <p:spPr>
          <a:xfrm>
            <a:off x="12192000" y="1270000"/>
            <a:ext cx="254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PURCHASE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 Management · Zoho Mirror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Spend Analytics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flipH="1">
            <a:off x="10033000" y="2095500"/>
            <a:ext cx="2159000" cy="95250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solid"/>
            <a:headEnd type="arrow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524000" y="5080000"/>
            <a:ext cx="2540000" cy="8255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" y="5080000"/>
            <a:ext cx="254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FINANCE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Parent Invoices · GST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MCB Fee · Reconciliation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flipV="1">
            <a:off x="4064000" y="4064000"/>
            <a:ext cx="2159000" cy="101600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6858000" y="5080000"/>
            <a:ext cx="2540000" cy="8255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5080000"/>
            <a:ext cx="254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CALL CENTRE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Multi-Channel Queue · SLA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Supervisor View · Follow-ups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flipV="1">
            <a:off x="8128000" y="4064000"/>
            <a:ext cx="0" cy="101600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2192000" y="5080000"/>
            <a:ext cx="2540000" cy="8255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23" name="Text 21"/>
          <p:cNvSpPr/>
          <p:nvPr/>
        </p:nvSpPr>
        <p:spPr>
          <a:xfrm>
            <a:off x="12192000" y="5080000"/>
            <a:ext cx="254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CRM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Tickets · Customer Records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School Relationships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flipH="1" flipV="1">
            <a:off x="10033000" y="4064000"/>
            <a:ext cx="2159000" cy="101600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solid"/>
            <a:headEnd type="arrow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762000" y="3175000"/>
            <a:ext cx="2286000" cy="825500"/>
          </a:xfrm>
          <a:prstGeom prst="rect">
            <a:avLst/>
          </a:prstGeom>
          <a:solidFill>
            <a:srgbClr val="4A9B73"/>
          </a:solidFill>
          <a:ln/>
        </p:spPr>
      </p:sp>
      <p:sp>
        <p:nvSpPr>
          <p:cNvPr id="26" name="Text 24"/>
          <p:cNvSpPr/>
          <p:nvPr/>
        </p:nvSpPr>
        <p:spPr>
          <a:xfrm>
            <a:off x="762000" y="3175000"/>
            <a:ext cx="228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 DATA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· Schools · Items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BOMs · SKU Mapping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048000" y="3683000"/>
            <a:ext cx="3175000" cy="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3208000" y="3175000"/>
            <a:ext cx="2286000" cy="825500"/>
          </a:xfrm>
          <a:prstGeom prst="rect">
            <a:avLst/>
          </a:prstGeom>
          <a:solidFill>
            <a:srgbClr val="4A9B73"/>
          </a:solidFill>
          <a:ln/>
        </p:spPr>
      </p:sp>
      <p:sp>
        <p:nvSpPr>
          <p:cNvPr id="29" name="Text 27"/>
          <p:cNvSpPr/>
          <p:nvPr/>
        </p:nvSpPr>
        <p:spPr>
          <a:xfrm>
            <a:off x="13208000" y="3175000"/>
            <a:ext cx="228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REPORTS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Built-in Reports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Sales · GST · Stock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flipH="1">
            <a:off x="10033000" y="3683000"/>
            <a:ext cx="3175000" cy="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solid"/>
            <a:headEnd type="arrow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762000" y="6477000"/>
            <a:ext cx="546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r>
              <a:rPr lang="en-US" sz="16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INTEGRATED MODULES · SINGLE DATA MODEL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62000" y="8382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 · PREPARED FOR INVENTRE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986000" y="8382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17500"/>
            <a:ext cx="508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kern="0" spc="3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INVENTRE ERP — ORDER-TO-INVOICE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1905000" cy="12065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62100"/>
            <a:ext cx="19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1816100"/>
            <a:ext cx="1905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Received from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eCommerce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67000" y="2120900"/>
            <a:ext cx="3175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2984500" y="1524000"/>
            <a:ext cx="1905000" cy="12065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9" name="Text 7"/>
          <p:cNvSpPr/>
          <p:nvPr/>
        </p:nvSpPr>
        <p:spPr>
          <a:xfrm>
            <a:off x="2984500" y="1562100"/>
            <a:ext cx="19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84500" y="1816100"/>
            <a:ext cx="1905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ALLOCATE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BOM-driven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picking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89500" y="2120900"/>
            <a:ext cx="3175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5207000" y="1524000"/>
            <a:ext cx="1905000" cy="12065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13" name="Text 11"/>
          <p:cNvSpPr/>
          <p:nvPr/>
        </p:nvSpPr>
        <p:spPr>
          <a:xfrm>
            <a:off x="5207000" y="1562100"/>
            <a:ext cx="19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07000" y="1816100"/>
            <a:ext cx="1905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Packing slips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Mismatch check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12000" y="2120900"/>
            <a:ext cx="3175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7429500" y="1524000"/>
            <a:ext cx="1905000" cy="12065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17" name="Text 15"/>
          <p:cNvSpPr/>
          <p:nvPr/>
        </p:nvSpPr>
        <p:spPr>
          <a:xfrm>
            <a:off x="7429500" y="1562100"/>
            <a:ext cx="19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29500" y="1816100"/>
            <a:ext cx="1905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DISPATCH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Carrier API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Tracking sync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34500" y="2120900"/>
            <a:ext cx="3175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9652000" y="1524000"/>
            <a:ext cx="1905000" cy="12065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21" name="Text 19"/>
          <p:cNvSpPr/>
          <p:nvPr/>
        </p:nvSpPr>
        <p:spPr>
          <a:xfrm>
            <a:off x="9652000" y="1562100"/>
            <a:ext cx="19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52000" y="1816100"/>
            <a:ext cx="1905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Delivery/RTO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557000" y="2120900"/>
            <a:ext cx="3175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1874500" y="1524000"/>
            <a:ext cx="1905000" cy="12065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25" name="Text 23"/>
          <p:cNvSpPr/>
          <p:nvPr/>
        </p:nvSpPr>
        <p:spPr>
          <a:xfrm>
            <a:off x="11874500" y="1562100"/>
            <a:ext cx="19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74500" y="1816100"/>
            <a:ext cx="1905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INVOICE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 GST invoice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MCB reconcile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3779500" y="2120900"/>
            <a:ext cx="3175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4097000" y="1524000"/>
            <a:ext cx="1905000" cy="1206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14097000" y="1562100"/>
            <a:ext cx="19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4097000" y="1816100"/>
            <a:ext cx="1905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FINANCE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Ledger update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refresh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2000" y="2921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 updates flow back to eCommerce in real time — parents see live order status at every stage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2000" y="3683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CAPABILITIES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62000" y="4089400"/>
            <a:ext cx="4699000" cy="6350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2500" y="40894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3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Aging-order intelligence (0-3 to 91+ days)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651500" y="4089400"/>
            <a:ext cx="4699000" cy="6350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42000" y="40894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3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BOM-driven packing with sealed-unit dispatch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541000" y="4089400"/>
            <a:ext cx="4953000" cy="6350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31500" y="4089400"/>
            <a:ext cx="457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3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SLA-governed multi-channel call centre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62000" y="4889500"/>
            <a:ext cx="4699000" cy="6350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2500" y="48895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3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Live Zoho purchase-order mirror (240 vendors)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651500" y="4889500"/>
            <a:ext cx="4699000" cy="6350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42000" y="48895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3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Magic Box vs. non-Magic-Box intelligence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0541000" y="4889500"/>
            <a:ext cx="4953000" cy="6350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731500" y="4889500"/>
            <a:ext cx="457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3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Safe dry-run parent invoicing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62000" y="8382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 · PREPARED FOR INVENTRE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4986000" y="8382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72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429000"/>
            <a:ext cx="1524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683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NXT DEEP DIVE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445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Intelligence Layer — Single Source of Truth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8382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 · PREPARED FOR INVENTRE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17500"/>
            <a:ext cx="508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kern="0" spc="3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INVENTRE NXT — INTELLIGENCE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016000"/>
            <a:ext cx="165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kern="0" spc="1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40000" y="1041400"/>
            <a:ext cx="3556000" cy="5080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6" name="Text 4"/>
          <p:cNvSpPr/>
          <p:nvPr/>
        </p:nvSpPr>
        <p:spPr>
          <a:xfrm>
            <a:off x="2540000" y="10414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eCommerce Data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Orders · Customers · Payments · Behaviour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0000" y="1041400"/>
            <a:ext cx="4318000" cy="5080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8" name="Text 6"/>
          <p:cNvSpPr/>
          <p:nvPr/>
        </p:nvSpPr>
        <p:spPr>
          <a:xfrm>
            <a:off x="6350000" y="1041400"/>
            <a:ext cx="431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ERP Data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Warehouse · Inventory · Finance · Call Centre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22000" y="1041400"/>
            <a:ext cx="3556000" cy="508000"/>
          </a:xfrm>
          <a:prstGeom prst="rect">
            <a:avLst/>
          </a:prstGeom>
          <a:solidFill>
            <a:srgbClr val="4A9B73"/>
          </a:solidFill>
          <a:ln/>
        </p:spPr>
      </p:sp>
      <p:sp>
        <p:nvSpPr>
          <p:cNvPr id="10" name="Text 8"/>
          <p:cNvSpPr/>
          <p:nvPr/>
        </p:nvSpPr>
        <p:spPr>
          <a:xfrm>
            <a:off x="10922000" y="10414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</a:t>
            </a:r>
            <a:endParaRPr lang="en-US" sz="12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ERPNext · MCB · Zoho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8000" y="1549400"/>
            <a:ext cx="0" cy="31750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8509000" y="1549400"/>
            <a:ext cx="0" cy="31750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12700000" y="1549400"/>
            <a:ext cx="0" cy="31750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solid"/>
            <a:headEnd type="none"/>
            <a:tailEnd type="arrow"/>
          </a:ln>
        </p:spPr>
      </p:sp>
      <p:sp>
        <p:nvSpPr>
          <p:cNvPr id="14" name="Text 12"/>
          <p:cNvSpPr/>
          <p:nvPr/>
        </p:nvSpPr>
        <p:spPr>
          <a:xfrm>
            <a:off x="762000" y="19685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kern="0" spc="1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40000" y="1866900"/>
            <a:ext cx="11938000" cy="457200"/>
          </a:xfrm>
          <a:prstGeom prst="rect">
            <a:avLst/>
          </a:prstGeom>
          <a:solidFill>
            <a:srgbClr val="0F2E25"/>
          </a:solidFill>
          <a:ln/>
        </p:spPr>
      </p:sp>
      <p:sp>
        <p:nvSpPr>
          <p:cNvPr id="16" name="Text 14"/>
          <p:cNvSpPr/>
          <p:nvPr/>
        </p:nvSpPr>
        <p:spPr>
          <a:xfrm>
            <a:off x="2540000" y="1866900"/>
            <a:ext cx="1193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kern="0" spc="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HUB — Data Consolidation · Governance · Harmonisation · Real-time Sync · ETL Pipeline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09000" y="2324100"/>
            <a:ext cx="0" cy="49530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18" name="Text 16"/>
          <p:cNvSpPr/>
          <p:nvPr/>
        </p:nvSpPr>
        <p:spPr>
          <a:xfrm>
            <a:off x="762000" y="29210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kern="0" spc="1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10000" y="2819400"/>
            <a:ext cx="9398000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3810000" y="2819400"/>
            <a:ext cx="939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ANALYTICS ENGINE — Prediction · Trend Analysis · Forecasting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509000" y="3276600"/>
            <a:ext cx="0" cy="49530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22" name="Text 20"/>
          <p:cNvSpPr/>
          <p:nvPr/>
        </p:nvSpPr>
        <p:spPr>
          <a:xfrm>
            <a:off x="762000" y="38735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kern="0" spc="1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333500" y="4191000"/>
            <a:ext cx="2540000" cy="8890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0" y="41910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Dashboard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KPI Scorecards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 Alerts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27500" y="4191000"/>
            <a:ext cx="2540000" cy="8890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26" name="Text 24"/>
          <p:cNvSpPr/>
          <p:nvPr/>
        </p:nvSpPr>
        <p:spPr>
          <a:xfrm>
            <a:off x="4127500" y="41910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Management Reports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Trend Analysis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Cross-System Visibility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21500" y="4191000"/>
            <a:ext cx="2540000" cy="8890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28" name="Text 26"/>
          <p:cNvSpPr/>
          <p:nvPr/>
        </p:nvSpPr>
        <p:spPr>
          <a:xfrm>
            <a:off x="6921500" y="41910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Support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What-If Scenarios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Recommendations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715500" y="4191000"/>
            <a:ext cx="2540000" cy="8890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30" name="Text 28"/>
          <p:cNvSpPr/>
          <p:nvPr/>
        </p:nvSpPr>
        <p:spPr>
          <a:xfrm>
            <a:off x="9715500" y="41910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Unified Modules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Governed Data Model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Reporting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2509500" y="4191000"/>
            <a:ext cx="2540000" cy="8890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32" name="Text 30"/>
          <p:cNvSpPr/>
          <p:nvPr/>
        </p:nvSpPr>
        <p:spPr>
          <a:xfrm>
            <a:off x="12509500" y="41910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Parent CRM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Vendor Management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Accounting &amp; Ledger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2000" y="5461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kern="0" spc="1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NXT IS NOT ANOTHER APPLICATION. IT IS THE INTELLIGENCE LAYER.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62000" y="8382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 · PREPARED FOR INVENTRE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4986000" y="8382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72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429000"/>
            <a:ext cx="1524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683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&amp; SECURITY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445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Connected Systems, Governed Data, Protected Operations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8382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 · PREPARED FOR INVENTRE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17500"/>
            <a:ext cx="508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397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kern="0" spc="3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CROSS-SYSTEM INTEGRATION &amp; SECURITY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990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MAP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422400"/>
            <a:ext cx="2286000" cy="5715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422400"/>
            <a:ext cx="228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eCOMMERCE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2000" y="2184400"/>
            <a:ext cx="2286000" cy="5715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184400"/>
            <a:ext cx="228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2000" y="2946400"/>
            <a:ext cx="2286000" cy="571500"/>
          </a:xfrm>
          <a:prstGeom prst="rect">
            <a:avLst/>
          </a:prstGeom>
          <a:solidFill>
            <a:srgbClr val="0F2E25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946400"/>
            <a:ext cx="228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NXT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10000" y="1270000"/>
            <a:ext cx="1905000" cy="3810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10000" y="12700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CCAvenue (Payments)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48000" y="1714500"/>
            <a:ext cx="762000" cy="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3810000" y="1841500"/>
            <a:ext cx="1905000" cy="3810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10000" y="18415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Porter (Logistics)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48000" y="2286000"/>
            <a:ext cx="762000" cy="12700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810000" y="2413000"/>
            <a:ext cx="1905000" cy="3810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10000" y="24130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MCB (School ERP)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48000" y="2667000"/>
            <a:ext cx="762000" cy="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3810000" y="2984500"/>
            <a:ext cx="1905000" cy="3810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10000" y="29845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ERPNext (Finance)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48000" y="3175000"/>
            <a:ext cx="762000" cy="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3810000" y="3556000"/>
            <a:ext cx="1905000" cy="3810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10000" y="35560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Zoho (Procurement)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48000" y="3365500"/>
            <a:ext cx="762000" cy="31750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3810000" y="4127500"/>
            <a:ext cx="1905000" cy="381000"/>
          </a:xfrm>
          <a:prstGeom prst="rect">
            <a:avLst/>
          </a:prstGeom>
          <a:solidFill>
            <a:srgbClr val="E8E4DC"/>
          </a:solidFill>
          <a:ln w="12700">
            <a:solidFill>
              <a:srgbClr val="D1CB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10000" y="41275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SMS / Email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flipV="1">
            <a:off x="1905000" y="3556000"/>
            <a:ext cx="1905000" cy="952500"/>
          </a:xfrm>
          <a:prstGeom prst="straightConnector1">
            <a:avLst/>
          </a:prstGeom>
          <a:noFill/>
          <a:ln w="12700">
            <a:solidFill>
              <a:srgbClr val="D1CBC0"/>
            </a:solidFill>
            <a:prstDash val="dash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6604000" y="1041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ARCHITECTURE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0" y="1422400"/>
          <a:ext cx="8890000" cy="330200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79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Layer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Implementation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79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Authentication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OTP (customers) · Email+Password (admins) · No stored passwords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79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Authorisation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RBAC with 5 roles · Module-level Read/Write permissions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79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Data Isolation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School-scoped at data layer · Cross-school access prevented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79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Payment Security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CCAvenue PCI-DSS · Card data never touches Inventre servers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79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Audit Trail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Activity logs · OTP logs · Payment audit · Admin actions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26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PII Protection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Student data role-based · Encrypted · SuperAdmin protected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762000" y="50800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integration is tested, documented, and validated before delivery.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platform handles PII, financial transactions, and minor data (student records) at scale — security is built into every layer, not bolted on.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62000" y="8382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 · PREPARED FOR INVENTRE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4986000" y="8382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72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62000" y="3429000"/>
            <a:ext cx="1524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683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&amp; OWNERSHIP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4445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You Own, What You Pay, What Happens Next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8382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 · PREPARED FOR INVENTRE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17500"/>
            <a:ext cx="508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397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kern="0" spc="3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ARCHITECTURE &amp; SOURCE CODE OWNERSHIP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0414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THREE-ENVIRONMENT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33500" y="1460500"/>
            <a:ext cx="3937000" cy="1270000"/>
          </a:xfrm>
          <a:prstGeom prst="rect">
            <a:avLst/>
          </a:prstGeom>
          <a:solidFill>
            <a:srgbClr val="4A9B73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1498600"/>
            <a:ext cx="393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kern="0" spc="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33500" y="1841500"/>
            <a:ext cx="393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build &amp; integration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 testing environment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development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70500" y="1968500"/>
            <a:ext cx="5080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5778500" y="1460500"/>
            <a:ext cx="3937000" cy="1270000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10" name="Text 8"/>
          <p:cNvSpPr/>
          <p:nvPr/>
        </p:nvSpPr>
        <p:spPr>
          <a:xfrm>
            <a:off x="5778500" y="1498600"/>
            <a:ext cx="393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kern="0" spc="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STAGING / UAT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78500" y="1841500"/>
            <a:ext cx="393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acceptance testing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&amp; sign-off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Production-like environment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715500" y="1968500"/>
            <a:ext cx="508000" cy="0"/>
          </a:xfrm>
          <a:prstGeom prst="straightConnector1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10223500" y="1460500"/>
            <a:ext cx="3937000" cy="1270000"/>
          </a:xfrm>
          <a:prstGeom prst="rect">
            <a:avLst/>
          </a:prstGeom>
          <a:solidFill>
            <a:srgbClr val="1B4D3E"/>
          </a:solidFill>
          <a:ln/>
        </p:spPr>
      </p:sp>
      <p:sp>
        <p:nvSpPr>
          <p:cNvPr id="14" name="Text 12"/>
          <p:cNvSpPr/>
          <p:nvPr/>
        </p:nvSpPr>
        <p:spPr>
          <a:xfrm>
            <a:off x="10223500" y="1498600"/>
            <a:ext cx="393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kern="0" spc="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223500" y="1841500"/>
            <a:ext cx="393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business operations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SSL/TLS · Reverse Proxy</a:t>
            </a:r>
            <a:endParaRPr lang="en-US" sz="11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Backup &amp; Monitoring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2000" y="2794000"/>
            <a:ext cx="147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· Linux · Reverse Proxy · SSL/TLS · Backup Strategy · Monitoring | Each environment: Application Server + Database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2000" y="33655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 SOURCE CODE OWNERSHIP — WHAT YOU RECEIVE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746500"/>
          <a:ext cx="14732000" cy="3175000"/>
        </p:xfrm>
        <a:graphic>
          <a:graphicData uri="http://schemas.openxmlformats.org/drawingml/2006/table">
            <a:tbl>
              <a:tblPr/>
              <a:tblGrid>
                <a:gridCol w="810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Asset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Modules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Status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Enterprise eCommerce Platform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31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Full Source Code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Enterprise ERP Platform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24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Full Source Code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Enterprise NXT Platform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12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Full Source Code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Complete Git Repository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—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Transferred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Database Schema &amp; Documentation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—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Documented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Deployment Documentation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—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Delivered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Knowledge Transfer Sessions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C9A227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✓</a:t>
                      </a:r>
                      <a:r>
                        <a:rPr lang="en-US" sz="1100" dirty="0">
                          <a:solidFill>
                            <a:srgbClr val="1A1A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Structured Sessions</a:t>
                      </a:r>
                      <a:endParaRPr lang="en-US" sz="11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762000" y="7175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kern="0" spc="100" dirty="0">
                <a:solidFill>
                  <a:srgbClr val="1B4D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VENDOR LOCK-IN · NO RECURRING FEES · PERPETUAL COMMERCIAL LICENSE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62000" y="8382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 · PREPARED FOR INVENTRE</a:t>
            </a:r>
            <a:endParaRPr lang="en-US" sz="1200" dirty="0"/>
          </a:p>
        </p:txBody>
      </p:sp>
      <p:sp>
        <p:nvSpPr>
          <p:cNvPr id="18" name="Text 18"/>
          <p:cNvSpPr/>
          <p:nvPr/>
        </p:nvSpPr>
        <p:spPr>
          <a:xfrm>
            <a:off x="14986000" y="8382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2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16000"/>
            <a:ext cx="1016000" cy="50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524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40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PLATFORM.</a:t>
            </a:r>
            <a:endParaRPr lang="en-US" sz="4000" dirty="0"/>
          </a:p>
          <a:p>
            <a:pPr algn="l">
              <a:lnSpc>
                <a:spcPct val="130000"/>
              </a:lnSpc>
            </a:pPr>
            <a:r>
              <a:rPr lang="en-US" sz="40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SOURCE OF TRUTH. </a:t>
            </a:r>
            <a:r>
              <a:rPr lang="en-US" sz="4000" kern="0" spc="2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WHOLLY OWNED.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62000" y="3302000"/>
            <a:ext cx="2540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3683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kern="0" spc="1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4191000"/>
            <a:ext cx="44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70000" y="4191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— Board/executive strategic alignment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4635500"/>
            <a:ext cx="44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70000" y="4635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Walkthrough — Live platform demonstration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080000"/>
            <a:ext cx="44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70000" y="5080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 — Infrastructure &amp; system access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5524500"/>
            <a:ext cx="44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70000" y="5524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Approve — Letter of Intent to commence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6477000"/>
            <a:ext cx="7620000" cy="127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673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Siddhrans Infotech Private Limited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62000" y="7239000"/>
            <a:ext cx="762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Gururaj N · gururaj.n@siddhrans.com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Bengaluru, Karnataka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8382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document is confidential and prepared exclusively for Inventre. Unauthorised distribution is prohibited.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1511</Words>
  <Application>Microsoft Office PowerPoint</Application>
  <PresentationFormat>Custom</PresentationFormat>
  <Paragraphs>467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Liter</vt:lpstr>
      <vt:lpstr>Quattrocento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Inventre Enterprise Platform — Architecture Walkthrough</dc:title>
  <dc:subject>Inventre Enterprise Platform — Architecture Walkthrough</dc:subject>
  <dc:creator>Kimi</dc:creator>
  <cp:lastModifiedBy>Sriramdas Anjani Pradeep</cp:lastModifiedBy>
  <cp:revision>2</cp:revision>
  <dcterms:created xsi:type="dcterms:W3CDTF">2026-07-12T11:53:43Z</dcterms:created>
  <dcterms:modified xsi:type="dcterms:W3CDTF">2026-07-16T05:11:52Z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{"Label":"Inventre Enterprise Platform — Architecture Walkthrough","ContentProducer":"001191110108MACG2KBH8F10000","ProduceID":"19f56015-ccf2-86ca-8000-0000e75b2309","ReservedCode1":"","ContentPropagator":"001191110108MACG2KBH8F20000","PropagateID":"19f55f7f-4cf2-8db7-8000-096a4105315b","ReservedCode2":""}</vt:lpwstr>
  </property>
</Properties>
</file>