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20">
                <a:solidFill>
                  <a:srgbClr val="E47127"/>
                </a:solidFill>
                <a:latin typeface="Calibri"/>
              </a:rPr>
              <a:t>FLOW  01  ·  SYSTEMS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A0A0A"/>
                </a:solidFill>
                <a:latin typeface="Calibri"/>
              </a:rPr>
              <a:t>The systems map</a:t>
            </a:r>
          </a:p>
        </p:txBody>
      </p:sp>
      <p:pic>
        <p:nvPicPr>
          <p:cNvPr id="6" name="Picture 5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329184"/>
            <a:ext cx="1417320" cy="187986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6094476" y="2080260"/>
            <a:ext cx="0" cy="818388"/>
          </a:xfrm>
          <a:prstGeom prst="line">
            <a:avLst/>
          </a:prstGeom>
          <a:ln w="22225">
            <a:solidFill>
              <a:srgbClr val="B8B5A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470040" y="2569874"/>
            <a:ext cx="1064019" cy="498338"/>
          </a:xfrm>
          <a:prstGeom prst="line">
            <a:avLst/>
          </a:prstGeom>
          <a:ln w="25400">
            <a:solidFill>
              <a:srgbClr val="E4712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475220" y="3803903"/>
            <a:ext cx="1481328" cy="0"/>
          </a:xfrm>
          <a:prstGeom prst="line">
            <a:avLst/>
          </a:prstGeom>
          <a:ln w="25400">
            <a:solidFill>
              <a:srgbClr val="E4712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75220" y="3621023"/>
            <a:ext cx="1481328" cy="0"/>
          </a:xfrm>
          <a:prstGeom prst="line">
            <a:avLst/>
          </a:prstGeom>
          <a:ln w="25400">
            <a:solidFill>
              <a:srgbClr val="1F6F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7431257" y="4439523"/>
            <a:ext cx="1064019" cy="498338"/>
          </a:xfrm>
          <a:prstGeom prst="line">
            <a:avLst/>
          </a:prstGeom>
          <a:ln w="25400">
            <a:solidFill>
              <a:srgbClr val="E4712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508824" y="4273908"/>
            <a:ext cx="1064019" cy="498338"/>
          </a:xfrm>
          <a:prstGeom prst="line">
            <a:avLst/>
          </a:prstGeom>
          <a:ln w="25400">
            <a:solidFill>
              <a:srgbClr val="1F6F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094476" y="4526279"/>
            <a:ext cx="0" cy="818389"/>
          </a:xfrm>
          <a:prstGeom prst="line">
            <a:avLst/>
          </a:prstGeom>
          <a:ln w="25400">
            <a:solidFill>
              <a:srgbClr val="E4712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654892" y="4356715"/>
            <a:ext cx="1064019" cy="498338"/>
          </a:xfrm>
          <a:prstGeom prst="line">
            <a:avLst/>
          </a:prstGeom>
          <a:ln w="25400">
            <a:solidFill>
              <a:srgbClr val="E4712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32404" y="3621023"/>
            <a:ext cx="1481328" cy="0"/>
          </a:xfrm>
          <a:prstGeom prst="line">
            <a:avLst/>
          </a:prstGeom>
          <a:ln w="25400">
            <a:solidFill>
              <a:srgbClr val="E4712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232404" y="3803903"/>
            <a:ext cx="1481328" cy="0"/>
          </a:xfrm>
          <a:prstGeom prst="line">
            <a:avLst/>
          </a:prstGeom>
          <a:ln w="25400">
            <a:solidFill>
              <a:srgbClr val="1F6F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93675" y="2487066"/>
            <a:ext cx="1064019" cy="498338"/>
          </a:xfrm>
          <a:prstGeom prst="line">
            <a:avLst/>
          </a:prstGeom>
          <a:ln w="25400">
            <a:solidFill>
              <a:srgbClr val="E4712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3616108" y="2652681"/>
            <a:ext cx="1064019" cy="498338"/>
          </a:xfrm>
          <a:prstGeom prst="line">
            <a:avLst/>
          </a:prstGeom>
          <a:ln w="25400">
            <a:solidFill>
              <a:srgbClr val="1F6F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850892" y="973836"/>
            <a:ext cx="248716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024628" y="1110995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A0A0A"/>
                </a:solidFill>
                <a:latin typeface="Calibri"/>
              </a:rPr>
              <a:t>Cloud Hosting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4628" y="1389888"/>
            <a:ext cx="2139696" cy="10972"/>
          </a:xfrm>
          <a:prstGeom prst="rect">
            <a:avLst/>
          </a:prstGeom>
          <a:solidFill>
            <a:srgbClr val="D9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024628" y="1476756"/>
            <a:ext cx="2139696" cy="448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70">
                <a:solidFill>
                  <a:srgbClr val="5C5950"/>
                </a:solidFill>
                <a:latin typeface="Calibri"/>
              </a:rPr>
              <a:t>RUNS ON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3D3B35"/>
                </a:solidFill>
                <a:latin typeface="Calibri"/>
              </a:rPr>
              <a:t>Ubuntu 24.04 · Docker · nginx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3D3B35"/>
                </a:solidFill>
                <a:latin typeface="Calibri"/>
              </a:rPr>
              <a:t>Cloudflare R2 · nightly backup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62772" y="1495044"/>
            <a:ext cx="248716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636508" y="1632204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A0A0A"/>
                </a:solidFill>
                <a:latin typeface="Calibri"/>
              </a:rPr>
              <a:t>ERPNext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36508" y="1911095"/>
            <a:ext cx="2139696" cy="10972"/>
          </a:xfrm>
          <a:prstGeom prst="rect">
            <a:avLst/>
          </a:prstGeom>
          <a:solidFill>
            <a:srgbClr val="D9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36508" y="1997964"/>
            <a:ext cx="2139696" cy="448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70">
                <a:solidFill>
                  <a:srgbClr val="E47127"/>
                </a:solidFill>
                <a:latin typeface="Calibri"/>
              </a:rPr>
              <a:t>ERP.INVENTRE.IN  ·  LIVE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3D3B35"/>
                </a:solidFill>
                <a:latin typeface="Calibri"/>
              </a:rPr>
              <a:t>items · customers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3D3B35"/>
                </a:solidFill>
                <a:latin typeface="Calibri"/>
              </a:rPr>
              <a:t>sales orders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1412" y="3186683"/>
            <a:ext cx="248716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85148" y="3323843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A0A0A"/>
                </a:solidFill>
                <a:latin typeface="Calibri"/>
              </a:rPr>
              <a:t>Inventre Website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5148" y="3602735"/>
            <a:ext cx="2139696" cy="10972"/>
          </a:xfrm>
          <a:prstGeom prst="rect">
            <a:avLst/>
          </a:prstGeom>
          <a:solidFill>
            <a:srgbClr val="D9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185148" y="3689603"/>
            <a:ext cx="2139696" cy="448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70">
                <a:solidFill>
                  <a:srgbClr val="E47127"/>
                </a:solidFill>
                <a:latin typeface="Calibri"/>
              </a:rPr>
              <a:t>INVENTRE.IN  ·  LIVE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3D3B35"/>
                </a:solidFill>
                <a:latin typeface="Calibri"/>
              </a:rPr>
              <a:t>orders · payments · CCAvenue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3D3B35"/>
                </a:solidFill>
                <a:latin typeface="Calibri"/>
              </a:rPr>
              <a:t>status · tracking · stock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62772" y="4878324"/>
            <a:ext cx="248716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636508" y="5015484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A0A0A"/>
                </a:solidFill>
                <a:latin typeface="Calibri"/>
              </a:rPr>
              <a:t>Couriers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36508" y="5294376"/>
            <a:ext cx="2139696" cy="10972"/>
          </a:xfrm>
          <a:prstGeom prst="rect">
            <a:avLst/>
          </a:prstGeom>
          <a:solidFill>
            <a:srgbClr val="D9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636508" y="5381244"/>
            <a:ext cx="2139696" cy="448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70">
                <a:solidFill>
                  <a:srgbClr val="E47127"/>
                </a:solidFill>
                <a:latin typeface="Calibri"/>
              </a:rPr>
              <a:t>8 CHANNELS  ·  4 BY API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3D3B35"/>
                </a:solidFill>
                <a:latin typeface="Calibri"/>
              </a:rPr>
              <a:t>consignments booked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3D3B35"/>
                </a:solidFill>
                <a:latin typeface="Calibri"/>
              </a:rPr>
              <a:t>scans · delivery · RTO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50892" y="5399532"/>
            <a:ext cx="248716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024628" y="5536692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A0A0A"/>
                </a:solidFill>
                <a:latin typeface="Calibri"/>
              </a:rPr>
              <a:t>MyClassBoard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4628" y="5815584"/>
            <a:ext cx="2139696" cy="10972"/>
          </a:xfrm>
          <a:prstGeom prst="rect">
            <a:avLst/>
          </a:prstGeom>
          <a:solidFill>
            <a:srgbClr val="D9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024628" y="5902452"/>
            <a:ext cx="2139696" cy="448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70">
                <a:solidFill>
                  <a:srgbClr val="E47127"/>
                </a:solidFill>
                <a:latin typeface="Calibri"/>
              </a:rPr>
              <a:t>STUDENT &amp; FEE SYNC  ·  LIVE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3D3B35"/>
                </a:solidFill>
                <a:latin typeface="Calibri"/>
              </a:rPr>
              <a:t>students · grades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3D3B35"/>
                </a:solidFill>
                <a:latin typeface="Calibri"/>
              </a:rPr>
              <a:t>school fee receivables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39011" y="4878324"/>
            <a:ext cx="248716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412747" y="5015484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A0A0A"/>
                </a:solidFill>
                <a:latin typeface="Calibri"/>
              </a:rPr>
              <a:t>Zoho Inventory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12747" y="5294376"/>
            <a:ext cx="2139696" cy="10972"/>
          </a:xfrm>
          <a:prstGeom prst="rect">
            <a:avLst/>
          </a:prstGeom>
          <a:solidFill>
            <a:srgbClr val="D9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412747" y="5381244"/>
            <a:ext cx="2139696" cy="448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70">
                <a:solidFill>
                  <a:srgbClr val="E47127"/>
                </a:solidFill>
                <a:latin typeface="Calibri"/>
              </a:rPr>
              <a:t>PURCHASE ORDERS  ·  LIVE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3D3B35"/>
                </a:solidFill>
                <a:latin typeface="Calibri"/>
              </a:rPr>
              <a:t>2,231 purchase orders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3D3B35"/>
                </a:solidFill>
                <a:latin typeface="Calibri"/>
              </a:rPr>
              <a:t>across 249 vendors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0372" y="3186683"/>
            <a:ext cx="248716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64108" y="3323843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A0A0A"/>
                </a:solidFill>
                <a:latin typeface="Calibri"/>
              </a:rPr>
              <a:t>Customer Care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4108" y="3602735"/>
            <a:ext cx="2139696" cy="10972"/>
          </a:xfrm>
          <a:prstGeom prst="rect">
            <a:avLst/>
          </a:prstGeom>
          <a:solidFill>
            <a:srgbClr val="D9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64108" y="3689603"/>
            <a:ext cx="2139696" cy="448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70">
                <a:solidFill>
                  <a:srgbClr val="E47127"/>
                </a:solidFill>
                <a:latin typeface="Calibri"/>
              </a:rPr>
              <a:t>PORTAL · WHATSAPP · PHONE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3D3B35"/>
                </a:solidFill>
                <a:latin typeface="Calibri"/>
              </a:rPr>
              <a:t>parent concerns → tickets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3D3B35"/>
                </a:solidFill>
                <a:latin typeface="Calibri"/>
              </a:rPr>
              <a:t>order &amp; parcel history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39011" y="1495044"/>
            <a:ext cx="248716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412747" y="1632204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A0A0A"/>
                </a:solidFill>
                <a:latin typeface="Calibri"/>
              </a:rPr>
              <a:t>Inventre OneDrive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12747" y="1911095"/>
            <a:ext cx="2139696" cy="10972"/>
          </a:xfrm>
          <a:prstGeom prst="rect">
            <a:avLst/>
          </a:prstGeom>
          <a:solidFill>
            <a:srgbClr val="D9D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412747" y="1997964"/>
            <a:ext cx="2139696" cy="448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 spc="70">
                <a:solidFill>
                  <a:srgbClr val="E47127"/>
                </a:solidFill>
                <a:latin typeface="Calibri"/>
              </a:rPr>
              <a:t>MICROSOFT GRAPH  ·  LIVE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3D3B35"/>
                </a:solidFill>
                <a:latin typeface="Calibri"/>
              </a:rPr>
              <a:t>5 shared stock workbooks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3D3B35"/>
                </a:solidFill>
                <a:latin typeface="Calibri"/>
              </a:rPr>
              <a:t>outward · bookkit · uniform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68596" y="2953511"/>
            <a:ext cx="2651760" cy="1517904"/>
          </a:xfrm>
          <a:prstGeom prst="roundRect">
            <a:avLst>
              <a:gd name="adj" fmla="val 5000"/>
            </a:avLst>
          </a:prstGeom>
          <a:solidFill>
            <a:srgbClr val="16140F"/>
          </a:solidFill>
          <a:ln w="25400">
            <a:solidFill>
              <a:srgbClr val="E47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768596" y="3136391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 spc="50">
                <a:solidFill>
                  <a:srgbClr val="E47127"/>
                </a:solidFill>
                <a:latin typeface="Calibri"/>
              </a:rPr>
              <a:t>ERP SHELL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8092" y="3611879"/>
            <a:ext cx="1572768" cy="12801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4988052" y="3712463"/>
            <a:ext cx="2212848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 spc="80">
                <a:solidFill>
                  <a:srgbClr val="8A8678"/>
                </a:solidFill>
                <a:latin typeface="Calibri"/>
              </a:rPr>
              <a:t>AUDIT.INVENTRE.IN  ·  LIVE</a:t>
            </a:r>
          </a:p>
          <a:p>
            <a:pPr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0" i="0">
                <a:solidFill>
                  <a:srgbClr val="B8B5AB"/>
                </a:solidFill>
                <a:latin typeface="Calibri"/>
              </a:rPr>
              <a:t>The one record of every order, item and parcel.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6624828"/>
            <a:ext cx="274320" cy="32004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024128" y="654710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5950"/>
                </a:solidFill>
                <a:latin typeface="Calibri"/>
              </a:rPr>
              <a:t>into the core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84248" y="6624828"/>
            <a:ext cx="274320" cy="32004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2350008" y="654710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5950"/>
                </a:solidFill>
                <a:latin typeface="Calibri"/>
              </a:rPr>
              <a:t>back out to the system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58768" y="6624828"/>
            <a:ext cx="274320" cy="32004"/>
          </a:xfrm>
          <a:prstGeom prst="rect">
            <a:avLst/>
          </a:prstGeom>
          <a:solidFill>
            <a:srgbClr val="B8B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4224528" y="654710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5950"/>
                </a:solidFill>
                <a:latin typeface="Calibri"/>
              </a:rPr>
              <a:t>runs 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6547104"/>
            <a:ext cx="3666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8678"/>
                </a:solidFill>
                <a:latin typeface="Calibri"/>
              </a:rPr>
              <a:t>Every arrow is an automated integration  ·  nothing is re-keyed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20">
                <a:solidFill>
                  <a:srgbClr val="E47127"/>
                </a:solidFill>
                <a:latin typeface="Calibri"/>
              </a:rPr>
              <a:t>FLOW  02  ·  ONE ORDER,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A0A0A"/>
                </a:solidFill>
                <a:latin typeface="Calibri"/>
              </a:rPr>
              <a:t>How an order moves — and comes 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33856"/>
            <a:ext cx="822960" cy="27432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280160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4712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293875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 spc="80">
                <a:solidFill>
                  <a:srgbClr val="E47127"/>
                </a:solidFill>
                <a:latin typeface="Calibri"/>
              </a:rPr>
              <a:t>THE ORDER MOVES FORWARD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54480"/>
            <a:ext cx="3418027" cy="210312"/>
          </a:xfrm>
          <a:prstGeom prst="roundRect">
            <a:avLst>
              <a:gd name="adj" fmla="val 35000"/>
            </a:avLst>
          </a:prstGeom>
          <a:solidFill>
            <a:srgbClr val="FE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595628"/>
            <a:ext cx="34180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 spc="100">
                <a:solidFill>
                  <a:srgbClr val="E47127"/>
                </a:solidFill>
                <a:latin typeface="Calibri"/>
              </a:rPr>
              <a:t>PARENT  ·  INVENTRE.IN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5462" y="1554480"/>
            <a:ext cx="5281574" cy="210312"/>
          </a:xfrm>
          <a:prstGeom prst="roundRect">
            <a:avLst>
              <a:gd name="adj" fmla="val 35000"/>
            </a:avLst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385462" y="1595628"/>
            <a:ext cx="528157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 spc="100">
                <a:solidFill>
                  <a:srgbClr val="1F6F6B"/>
                </a:solidFill>
                <a:latin typeface="Calibri"/>
              </a:rPr>
              <a:t>ERP  ·  AUDIT.INVENTRE.IN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76104" y="1554480"/>
            <a:ext cx="1554479" cy="210312"/>
          </a:xfrm>
          <a:prstGeom prst="roundRect">
            <a:avLst>
              <a:gd name="adj" fmla="val 35000"/>
            </a:avLst>
          </a:prstGeom>
          <a:solidFill>
            <a:srgbClr val="EF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976104" y="1595628"/>
            <a:ext cx="15544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 spc="100">
                <a:solidFill>
                  <a:srgbClr val="3D3B35"/>
                </a:solidFill>
                <a:latin typeface="Calibri"/>
              </a:rPr>
              <a:t>COURIER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1847088"/>
            <a:ext cx="155448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58368" y="1847088"/>
            <a:ext cx="41148" cy="932688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196596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0A0A0A"/>
                </a:solidFill>
                <a:latin typeface="Calibri"/>
              </a:rPr>
              <a:t>Parent logs in &amp; shops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5950"/>
                </a:solidFill>
                <a:latin typeface="Calibri"/>
              </a:rPr>
              <a:t>OTP login · school catalogue · cart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53996" y="2313432"/>
            <a:ext cx="226771" cy="0"/>
          </a:xfrm>
          <a:prstGeom prst="line">
            <a:avLst/>
          </a:prstGeom>
          <a:ln w="22225">
            <a:solidFill>
              <a:srgbClr val="E4712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521915" y="1847088"/>
            <a:ext cx="155448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2521915" y="1847088"/>
            <a:ext cx="41148" cy="932688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704795" y="196596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0A0A0A"/>
                </a:solidFill>
                <a:latin typeface="Calibri"/>
              </a:rPr>
              <a:t>Pays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5950"/>
                </a:solidFill>
                <a:latin typeface="Calibri"/>
              </a:rPr>
              <a:t>CCAvenue · invoice raised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7543" y="2313432"/>
            <a:ext cx="226771" cy="0"/>
          </a:xfrm>
          <a:prstGeom prst="line">
            <a:avLst/>
          </a:prstGeom>
          <a:ln w="22225">
            <a:solidFill>
              <a:srgbClr val="E4712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85462" y="1847088"/>
            <a:ext cx="155448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385462" y="1847088"/>
            <a:ext cx="41148" cy="932688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68342" y="196596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0A0A0A"/>
                </a:solidFill>
                <a:latin typeface="Calibri"/>
              </a:rPr>
              <a:t>Order lands in the ERP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5950"/>
                </a:solidFill>
                <a:latin typeface="Calibri"/>
              </a:rPr>
              <a:t>within seconds · nothing re-keyed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81090" y="2313432"/>
            <a:ext cx="226771" cy="0"/>
          </a:xfrm>
          <a:prstGeom prst="line">
            <a:avLst/>
          </a:prstGeom>
          <a:ln w="22225">
            <a:solidFill>
              <a:srgbClr val="E4712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49009" y="1847088"/>
            <a:ext cx="155448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249009" y="1847088"/>
            <a:ext cx="41148" cy="932688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1889" y="196596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0A0A0A"/>
                </a:solidFill>
                <a:latin typeface="Calibri"/>
              </a:rPr>
              <a:t>Picked &amp; packed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5950"/>
                </a:solidFill>
                <a:latin typeface="Calibri"/>
              </a:rPr>
              <a:t>BOM-driven · scan-verified sealed box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44637" y="2313432"/>
            <a:ext cx="226771" cy="0"/>
          </a:xfrm>
          <a:prstGeom prst="line">
            <a:avLst/>
          </a:prstGeom>
          <a:ln w="22225">
            <a:solidFill>
              <a:srgbClr val="E4712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12556" y="1847088"/>
            <a:ext cx="155448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112556" y="1847088"/>
            <a:ext cx="41148" cy="932688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95436" y="196596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0A0A0A"/>
                </a:solidFill>
                <a:latin typeface="Calibri"/>
              </a:rPr>
              <a:t>Consignment booked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5950"/>
                </a:solidFill>
                <a:latin typeface="Calibri"/>
              </a:rPr>
              <a:t>carrier chosen · AWB pulled by API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8184" y="2313432"/>
            <a:ext cx="226771" cy="0"/>
          </a:xfrm>
          <a:prstGeom prst="line">
            <a:avLst/>
          </a:prstGeom>
          <a:ln w="22225">
            <a:solidFill>
              <a:srgbClr val="E4712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976104" y="1847088"/>
            <a:ext cx="1554480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9976104" y="1847088"/>
            <a:ext cx="41148" cy="932688"/>
          </a:xfrm>
          <a:prstGeom prst="rect">
            <a:avLst/>
          </a:prstGeom>
          <a:solidFill>
            <a:srgbClr val="3D3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158984" y="1965960"/>
            <a:ext cx="1234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0A0A0A"/>
                </a:solidFill>
                <a:latin typeface="Calibri"/>
              </a:rPr>
              <a:t>Delivered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5950"/>
                </a:solidFill>
                <a:latin typeface="Calibri"/>
              </a:rPr>
              <a:t>to the home, or dropped at school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962656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F6B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2976372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 spc="80">
                <a:solidFill>
                  <a:srgbClr val="1F6F6B"/>
                </a:solidFill>
                <a:latin typeface="Calibri"/>
              </a:rPr>
              <a:t>STATUS FLOWS BACK  —  continuously, on its own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2976372"/>
            <a:ext cx="108722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1">
                <a:solidFill>
                  <a:srgbClr val="8A8678"/>
                </a:solidFill>
                <a:latin typeface="Calibri"/>
              </a:rPr>
              <a:t>follow the arrows right to left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3255264"/>
            <a:ext cx="1920239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658368" y="3255264"/>
            <a:ext cx="41148" cy="768096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41247" y="3374136"/>
            <a:ext cx="1600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0A0A0A"/>
                </a:solidFill>
                <a:latin typeface="Calibri"/>
              </a:rPr>
              <a:t>Parent is told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5950"/>
                </a:solidFill>
                <a:latin typeface="Calibri"/>
              </a:rPr>
              <a:t>SMS · WhatsApp · email · My Orders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2619755" y="3639312"/>
            <a:ext cx="235458" cy="0"/>
          </a:xfrm>
          <a:prstGeom prst="line">
            <a:avLst/>
          </a:prstGeom>
          <a:ln w="22225">
            <a:solidFill>
              <a:srgbClr val="1F6F6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2896361" y="3255264"/>
            <a:ext cx="1920239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896361" y="3255264"/>
            <a:ext cx="41148" cy="768096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079241" y="3374136"/>
            <a:ext cx="1600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0A0A0A"/>
                </a:solidFill>
                <a:latin typeface="Calibri"/>
              </a:rPr>
              <a:t>Website shows live status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5950"/>
                </a:solidFill>
                <a:latin typeface="Calibri"/>
              </a:rPr>
              <a:t>per item, and per Magic Box component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4857749" y="3639312"/>
            <a:ext cx="235458" cy="0"/>
          </a:xfrm>
          <a:prstGeom prst="line">
            <a:avLst/>
          </a:prstGeom>
          <a:ln w="22225">
            <a:solidFill>
              <a:srgbClr val="1F6F6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134355" y="3255264"/>
            <a:ext cx="1920239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134355" y="3255264"/>
            <a:ext cx="41148" cy="768096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317236" y="3374136"/>
            <a:ext cx="1600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0A0A0A"/>
                </a:solidFill>
                <a:latin typeface="Calibri"/>
              </a:rPr>
              <a:t>ERP updates the parcel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5950"/>
                </a:solidFill>
                <a:latin typeface="Calibri"/>
              </a:rPr>
              <a:t>packed · dispatched · delivered · RTO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7095743" y="3639312"/>
            <a:ext cx="235458" cy="0"/>
          </a:xfrm>
          <a:prstGeom prst="line">
            <a:avLst/>
          </a:prstGeom>
          <a:ln w="22225">
            <a:solidFill>
              <a:srgbClr val="1F6F6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7372350" y="3255264"/>
            <a:ext cx="1920239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7372350" y="3255264"/>
            <a:ext cx="41148" cy="768096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555229" y="3374136"/>
            <a:ext cx="1600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0A0A0A"/>
                </a:solidFill>
                <a:latin typeface="Calibri"/>
              </a:rPr>
              <a:t>Courier posts every scan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5950"/>
                </a:solidFill>
                <a:latin typeface="Calibri"/>
              </a:rPr>
              <a:t>4 carriers push status by API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9333738" y="3639312"/>
            <a:ext cx="235458" cy="0"/>
          </a:xfrm>
          <a:prstGeom prst="line">
            <a:avLst/>
          </a:prstGeom>
          <a:ln w="22225">
            <a:solidFill>
              <a:srgbClr val="1F6F6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9610344" y="3255264"/>
            <a:ext cx="1920239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9610344" y="3255264"/>
            <a:ext cx="41148" cy="768096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793224" y="3374136"/>
            <a:ext cx="1600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0A0A0A"/>
                </a:solidFill>
                <a:latin typeface="Calibri"/>
              </a:rPr>
              <a:t>The box moves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5950"/>
                </a:solidFill>
                <a:latin typeface="Calibri"/>
              </a:rPr>
              <a:t>pickup → hub → out for delivery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4224528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47127"/>
                </a:solidFill>
                <a:latin typeface="Calibri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" y="4238244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 spc="80">
                <a:solidFill>
                  <a:srgbClr val="E47127"/>
                </a:solidFill>
                <a:latin typeface="Calibri"/>
              </a:rPr>
              <a:t>IF SOMETHING IS WRONG, THE SAME ORDER LOOPS BACK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8368" y="4517136"/>
            <a:ext cx="2484882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658368" y="4517136"/>
            <a:ext cx="41148" cy="768096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841247" y="4636008"/>
            <a:ext cx="216484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0A0A0A"/>
                </a:solidFill>
                <a:latin typeface="Calibri"/>
              </a:rPr>
              <a:t>Parent raises Exchange or Missing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5950"/>
                </a:solidFill>
                <a:latin typeface="Calibri"/>
              </a:rPr>
              <a:t>on the delivered item, from My Orders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184398" y="4901184"/>
            <a:ext cx="228600" cy="0"/>
          </a:xfrm>
          <a:prstGeom prst="line">
            <a:avLst/>
          </a:prstGeom>
          <a:ln w="22225">
            <a:solidFill>
              <a:srgbClr val="E4712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3454146" y="4517136"/>
            <a:ext cx="2484882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454146" y="4517136"/>
            <a:ext cx="41148" cy="768096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3637026" y="4636008"/>
            <a:ext cx="216484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0A0A0A"/>
                </a:solidFill>
                <a:latin typeface="Calibri"/>
              </a:rPr>
              <a:t>ERP opens an RTN / MIS ticket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5950"/>
                </a:solidFill>
                <a:latin typeface="Calibri"/>
              </a:rPr>
              <a:t>checked against the sealed-box scan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980175" y="4901184"/>
            <a:ext cx="228600" cy="0"/>
          </a:xfrm>
          <a:prstGeom prst="line">
            <a:avLst/>
          </a:prstGeom>
          <a:ln w="22225">
            <a:solidFill>
              <a:srgbClr val="E4712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6249923" y="4517136"/>
            <a:ext cx="2484882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6249923" y="4517136"/>
            <a:ext cx="41148" cy="768096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6432803" y="4636008"/>
            <a:ext cx="216484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0A0A0A"/>
                </a:solidFill>
                <a:latin typeface="Calibri"/>
              </a:rPr>
              <a:t>Approved — replacement dispatched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5950"/>
                </a:solidFill>
                <a:latin typeface="Calibri"/>
              </a:rPr>
              <a:t>or the amount is refunded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775953" y="4901184"/>
            <a:ext cx="228600" cy="0"/>
          </a:xfrm>
          <a:prstGeom prst="line">
            <a:avLst/>
          </a:prstGeom>
          <a:ln w="22225">
            <a:solidFill>
              <a:srgbClr val="E4712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9045702" y="4517136"/>
            <a:ext cx="2484882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9045702" y="4517136"/>
            <a:ext cx="41148" cy="768096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9228582" y="4636008"/>
            <a:ext cx="216484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0A0A0A"/>
                </a:solidFill>
                <a:latin typeface="Calibri"/>
              </a:rPr>
              <a:t>Parent notified, order closed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 i="0">
                <a:solidFill>
                  <a:srgbClr val="5C5950"/>
                </a:solidFill>
                <a:latin typeface="Calibri"/>
              </a:rPr>
              <a:t>and tracked end to end all over again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0288143" y="5285232"/>
            <a:ext cx="0" cy="182880"/>
          </a:xfrm>
          <a:prstGeom prst="line">
            <a:avLst/>
          </a:prstGeom>
          <a:ln w="15875">
            <a:solidFill>
              <a:srgbClr val="E4712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900809" y="5468112"/>
            <a:ext cx="8387334" cy="0"/>
          </a:xfrm>
          <a:prstGeom prst="line">
            <a:avLst/>
          </a:prstGeom>
          <a:ln w="15875">
            <a:solidFill>
              <a:srgbClr val="E4712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900809" y="5285232"/>
            <a:ext cx="0" cy="182880"/>
          </a:xfrm>
          <a:prstGeom prst="line">
            <a:avLst/>
          </a:prstGeom>
          <a:ln w="15875">
            <a:solidFill>
              <a:srgbClr val="E4712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58368" y="5522976"/>
            <a:ext cx="108722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1">
                <a:solidFill>
                  <a:srgbClr val="E47127"/>
                </a:solidFill>
                <a:latin typeface="Calibri"/>
              </a:rPr>
              <a:t>the loop closes on the very same order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58368" y="5760720"/>
            <a:ext cx="10872215" cy="566928"/>
          </a:xfrm>
          <a:prstGeom prst="roundRect">
            <a:avLst>
              <a:gd name="adj" fmla="val 12000"/>
            </a:avLst>
          </a:prstGeom>
          <a:solidFill>
            <a:srgbClr val="FE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950976" y="5852159"/>
            <a:ext cx="1028699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A0A0A"/>
                </a:solidFill>
                <a:latin typeface="Calibri"/>
              </a:rPr>
              <a:t>One order crosses three systems and almost none of it is re-keyed.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3D3B35"/>
                </a:solidFill>
                <a:latin typeface="Calibri"/>
              </a:rPr>
              <a:t>Porter, local-vendor and school-drop consignments are the one leg still entered by hand.   Inventre NXT — in build — reads every step above.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8368" y="6492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B8B5AB"/>
                </a:solidFill>
                <a:latin typeface="Calibri"/>
              </a:rPr>
              <a:t>Inventre  ·  inventre.in  +  audit.inventre.in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16184" y="6492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B8B5A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