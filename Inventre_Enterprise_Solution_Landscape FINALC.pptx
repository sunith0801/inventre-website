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9340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2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1.png"/><Relationship Id="rId5" Type="http://schemas.openxmlformats.org/officeDocument/2006/relationships/image" Target="../media/image6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21.png"/><Relationship Id="rId5" Type="http://schemas.openxmlformats.org/officeDocument/2006/relationships/image" Target="../media/image14.png"/><Relationship Id="rId10" Type="http://schemas.openxmlformats.org/officeDocument/2006/relationships/image" Target="../media/image1.png"/><Relationship Id="rId4" Type="http://schemas.openxmlformats.org/officeDocument/2006/relationships/image" Target="../media/image11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6.png"/><Relationship Id="rId7" Type="http://schemas.openxmlformats.org/officeDocument/2006/relationships/image" Target="../media/image26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7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6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F4736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0F4736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2514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F4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BOARD-LEVEL ENTERPRISE ARCHITECTURE WALKTHROUGH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Inventre Enterprise Platform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39136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Solution Landscape &amp; Architecture Guide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58368" y="4663440"/>
            <a:ext cx="2926080" cy="0"/>
          </a:xfrm>
          <a:prstGeom prst="line">
            <a:avLst/>
          </a:prstGeom>
          <a:noFill/>
          <a:ln w="25400">
            <a:solidFill>
              <a:srgbClr val="F4C4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846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Inventre — Board &amp; Executive Leadership
</a:t>
            </a:r>
            <a:r>
              <a:rPr lang="en-US" sz="13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Siddhrans Infotech Private Limited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June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39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EXECUTIVE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Inventre Serves, and What Serves Them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5588" y="1536192"/>
            <a:ext cx="512064" cy="512064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6" name="Image 0" descr="/home/claude/icons/Fa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156" y="1602760"/>
            <a:ext cx="378927" cy="3789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0848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834640" y="141732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61588" y="1536192"/>
            <a:ext cx="512064" cy="512064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10" name="Image 1" descr="/home/claude/icons/FaUserGraduat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8156" y="1602760"/>
            <a:ext cx="378927" cy="37892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34640" y="20848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120640" y="141732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847588" y="1536192"/>
            <a:ext cx="512064" cy="512064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14" name="Image 2" descr="/home/claude/icons/FaSchool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156" y="1602760"/>
            <a:ext cx="378927" cy="37892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20640" y="20848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406640" y="141732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133588" y="1536192"/>
            <a:ext cx="512064" cy="512064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18" name="Image 3" descr="/home/claude/icons/FaHandshak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0156" y="1602760"/>
            <a:ext cx="378927" cy="37892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06640" y="20848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9692640" y="141732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419588" y="1536192"/>
            <a:ext cx="512064" cy="512064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22" name="Image 4" descr="/home/claude/icons/FaBriefcas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6156" y="1602760"/>
            <a:ext cx="378927" cy="37892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92640" y="20848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095848" y="2395728"/>
            <a:ext cx="9144" cy="301752"/>
          </a:xfrm>
          <a:prstGeom prst="line">
            <a:avLst/>
          </a:prstGeom>
          <a:noFill/>
          <a:ln w="19050">
            <a:solidFill>
              <a:srgbClr val="5B6B62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2926080" y="2724912"/>
            <a:ext cx="6400800" cy="777240"/>
          </a:xfrm>
          <a:prstGeom prst="roundRect">
            <a:avLst>
              <a:gd name="adj" fmla="val 11765"/>
            </a:avLst>
          </a:prstGeom>
          <a:solidFill>
            <a:srgbClr val="0B3D2E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2999232" y="2724912"/>
            <a:ext cx="6254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INVENTRE ENTERPRISE SUITE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2926080" y="32461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BE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platform layer behind every interaction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6095848" y="3502152"/>
            <a:ext cx="9144" cy="292608"/>
          </a:xfrm>
          <a:prstGeom prst="line">
            <a:avLst/>
          </a:prstGeom>
          <a:noFill/>
          <a:ln w="19050">
            <a:solidFill>
              <a:srgbClr val="5B6B62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>
            <a:off x="548640" y="3822192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039743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713232" y="3986784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31" name="Image 5" descr="/home/claude/icons/FaShoppingCar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555" y="4058107"/>
            <a:ext cx="405994" cy="40599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371600" y="39502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1371600" y="4297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F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4411980" y="3822192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039743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4576572" y="3986784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36" name="Image 6" descr="/home/claude/icons/FaCogs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7895" y="4058107"/>
            <a:ext cx="405994" cy="40599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234940" y="39502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5234940" y="4297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F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Operations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8275320" y="3822192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039743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8439912" y="3986784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41" name="Image 7" descr="/home/claude/icons/FaChartLine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11235" y="4058107"/>
            <a:ext cx="405994" cy="40599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098280" y="39502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Inventre NXT</a:t>
            </a:r>
            <a:endParaRPr lang="en-US" sz="1500" dirty="0"/>
          </a:p>
        </p:txBody>
      </p:sp>
      <p:sp>
        <p:nvSpPr>
          <p:cNvPr id="43" name="Text 33"/>
          <p:cNvSpPr/>
          <p:nvPr/>
        </p:nvSpPr>
        <p:spPr>
          <a:xfrm>
            <a:off x="9098280" y="4297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F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Intelligence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548640" y="516636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platforms. One governed enterprise. Every stakeholder above is served by at least one of them, in real time.</a:t>
            </a:r>
            <a:endParaRPr lang="en-US" sz="1250" dirty="0"/>
          </a:p>
        </p:txBody>
      </p:sp>
      <p:sp>
        <p:nvSpPr>
          <p:cNvPr id="45" name="Shape 35"/>
          <p:cNvSpPr/>
          <p:nvPr/>
        </p:nvSpPr>
        <p:spPr>
          <a:xfrm>
            <a:off x="548640" y="56235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548640" y="5669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397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47" name="Text 37"/>
          <p:cNvSpPr/>
          <p:nvPr/>
        </p:nvSpPr>
        <p:spPr>
          <a:xfrm>
            <a:off x="548640" y="60624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NXT Modules</a:t>
            </a:r>
            <a:endParaRPr lang="en-US" sz="950" dirty="0"/>
          </a:p>
        </p:txBody>
      </p:sp>
      <p:sp>
        <p:nvSpPr>
          <p:cNvPr id="48" name="Shape 38"/>
          <p:cNvSpPr/>
          <p:nvPr/>
        </p:nvSpPr>
        <p:spPr>
          <a:xfrm>
            <a:off x="3291840" y="56235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3291840" y="5669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397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000" dirty="0"/>
          </a:p>
        </p:txBody>
      </p:sp>
      <p:sp>
        <p:nvSpPr>
          <p:cNvPr id="50" name="Text 40"/>
          <p:cNvSpPr/>
          <p:nvPr/>
        </p:nvSpPr>
        <p:spPr>
          <a:xfrm>
            <a:off x="3291840" y="60624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Modules</a:t>
            </a:r>
            <a:endParaRPr lang="en-US" sz="950" dirty="0"/>
          </a:p>
        </p:txBody>
      </p:sp>
      <p:sp>
        <p:nvSpPr>
          <p:cNvPr id="51" name="Shape 41"/>
          <p:cNvSpPr/>
          <p:nvPr/>
        </p:nvSpPr>
        <p:spPr>
          <a:xfrm>
            <a:off x="6035040" y="56235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52" name="Text 42"/>
          <p:cNvSpPr/>
          <p:nvPr/>
        </p:nvSpPr>
        <p:spPr>
          <a:xfrm>
            <a:off x="6035040" y="5669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397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2000" dirty="0"/>
          </a:p>
        </p:txBody>
      </p:sp>
      <p:sp>
        <p:nvSpPr>
          <p:cNvPr id="53" name="Text 43"/>
          <p:cNvSpPr/>
          <p:nvPr/>
        </p:nvSpPr>
        <p:spPr>
          <a:xfrm>
            <a:off x="6035040" y="60624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Modules</a:t>
            </a:r>
            <a:endParaRPr lang="en-US" sz="950" dirty="0"/>
          </a:p>
        </p:txBody>
      </p:sp>
      <p:sp>
        <p:nvSpPr>
          <p:cNvPr id="54" name="Shape 44"/>
          <p:cNvSpPr/>
          <p:nvPr/>
        </p:nvSpPr>
        <p:spPr>
          <a:xfrm>
            <a:off x="8778240" y="56235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55" name="Text 45"/>
          <p:cNvSpPr/>
          <p:nvPr/>
        </p:nvSpPr>
        <p:spPr>
          <a:xfrm>
            <a:off x="8778240" y="5669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397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000" dirty="0"/>
          </a:p>
        </p:txBody>
      </p:sp>
      <p:sp>
        <p:nvSpPr>
          <p:cNvPr id="56" name="Text 46"/>
          <p:cNvSpPr/>
          <p:nvPr/>
        </p:nvSpPr>
        <p:spPr>
          <a:xfrm>
            <a:off x="8778240" y="60624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Owned</a:t>
            </a:r>
            <a:endParaRPr lang="en-US" sz="950" dirty="0"/>
          </a:p>
        </p:txBody>
      </p:sp>
      <p:sp>
        <p:nvSpPr>
          <p:cNvPr id="57" name="Text 47"/>
          <p:cNvSpPr/>
          <p:nvPr/>
        </p:nvSpPr>
        <p:spPr>
          <a:xfrm>
            <a:off x="45720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PREPARED FOR INVENTRE</a:t>
            </a:r>
            <a:endParaRPr lang="en-US" sz="850" dirty="0"/>
          </a:p>
        </p:txBody>
      </p:sp>
      <p:sp>
        <p:nvSpPr>
          <p:cNvPr id="58" name="Text 48"/>
          <p:cNvSpPr/>
          <p:nvPr/>
        </p:nvSpPr>
        <p:spPr>
          <a:xfrm>
            <a:off x="1127729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39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COMPLETE BUSINESS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End-to-End: From Parent to Leadership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33856" cy="1005840"/>
          </a:xfrm>
          <a:prstGeom prst="roundRect">
            <a:avLst>
              <a:gd name="adj" fmla="val 7273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664208"/>
            <a:ext cx="438912" cy="438912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6" name="Image 0" descr="/home/claude/icons/Fa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171" y="1721267"/>
            <a:ext cx="324795" cy="3247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76272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682496" y="2057400"/>
            <a:ext cx="113157" cy="9144"/>
          </a:xfrm>
          <a:prstGeom prst="line">
            <a:avLst/>
          </a:prstGeom>
          <a:noFill/>
          <a:ln w="19050">
            <a:solidFill>
              <a:srgbClr val="03974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1795653" y="1554480"/>
            <a:ext cx="1133856" cy="1005840"/>
          </a:xfrm>
          <a:prstGeom prst="roundRect">
            <a:avLst>
              <a:gd name="adj" fmla="val 7273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143125" y="1664208"/>
            <a:ext cx="438912" cy="438912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11" name="Image 1" descr="/home/claude/icons/FaLapto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0184" y="1721267"/>
            <a:ext cx="324795" cy="3247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04213" y="2176272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929509" y="2057400"/>
            <a:ext cx="113157" cy="9144"/>
          </a:xfrm>
          <a:prstGeom prst="line">
            <a:avLst/>
          </a:prstGeom>
          <a:noFill/>
          <a:ln w="19050">
            <a:solidFill>
              <a:srgbClr val="03974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042666" y="1554480"/>
            <a:ext cx="1133856" cy="1005840"/>
          </a:xfrm>
          <a:prstGeom prst="roundRect">
            <a:avLst>
              <a:gd name="adj" fmla="val 7273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390138" y="1664208"/>
            <a:ext cx="438912" cy="438912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16" name="Image 2" descr="/home/claude/icons/FaShoppingC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197" y="1721267"/>
            <a:ext cx="324795" cy="32479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51226" y="2176272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176522" y="2057400"/>
            <a:ext cx="113157" cy="9144"/>
          </a:xfrm>
          <a:prstGeom prst="line">
            <a:avLst/>
          </a:prstGeom>
          <a:noFill/>
          <a:ln w="19050">
            <a:solidFill>
              <a:srgbClr val="03974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4289679" y="1554480"/>
            <a:ext cx="1133856" cy="1005840"/>
          </a:xfrm>
          <a:prstGeom prst="roundRect">
            <a:avLst>
              <a:gd name="adj" fmla="val 7273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37151" y="1664208"/>
            <a:ext cx="438912" cy="438912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21" name="Image 3" descr="/home/claude/icons/FaCreditCar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4210" y="1721267"/>
            <a:ext cx="324795" cy="32479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198239" y="2176272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5423535" y="2057400"/>
            <a:ext cx="113157" cy="9144"/>
          </a:xfrm>
          <a:prstGeom prst="line">
            <a:avLst/>
          </a:prstGeom>
          <a:noFill/>
          <a:ln w="19050">
            <a:solidFill>
              <a:srgbClr val="039743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5536692" y="1554480"/>
            <a:ext cx="1133856" cy="1005840"/>
          </a:xfrm>
          <a:prstGeom prst="roundRect">
            <a:avLst>
              <a:gd name="adj" fmla="val 7273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884164" y="1664208"/>
            <a:ext cx="438912" cy="438912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26" name="Image 4" descr="/home/claude/icons/FaCog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1223" y="1721267"/>
            <a:ext cx="324795" cy="32479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45252" y="2176272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6670548" y="2057400"/>
            <a:ext cx="113157" cy="9144"/>
          </a:xfrm>
          <a:prstGeom prst="line">
            <a:avLst/>
          </a:prstGeom>
          <a:noFill/>
          <a:ln w="19050">
            <a:solidFill>
              <a:srgbClr val="039743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>
            <a:off x="6783705" y="1554480"/>
            <a:ext cx="1133856" cy="1005840"/>
          </a:xfrm>
          <a:prstGeom prst="roundRect">
            <a:avLst>
              <a:gd name="adj" fmla="val 7273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131177" y="1664208"/>
            <a:ext cx="438912" cy="438912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31" name="Image 5" descr="/home/claude/icons/FaWarehous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8236" y="1721267"/>
            <a:ext cx="324795" cy="32479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92265" y="2176272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7917561" y="2057400"/>
            <a:ext cx="113157" cy="9144"/>
          </a:xfrm>
          <a:prstGeom prst="line">
            <a:avLst/>
          </a:prstGeom>
          <a:noFill/>
          <a:ln w="19050">
            <a:solidFill>
              <a:srgbClr val="039743"/>
            </a:solidFill>
            <a:prstDash val="solid"/>
            <a:tailEnd type="triangle"/>
          </a:ln>
        </p:spPr>
      </p:sp>
      <p:sp>
        <p:nvSpPr>
          <p:cNvPr id="34" name="Shape 26"/>
          <p:cNvSpPr/>
          <p:nvPr/>
        </p:nvSpPr>
        <p:spPr>
          <a:xfrm>
            <a:off x="8030718" y="1554480"/>
            <a:ext cx="1133856" cy="1005840"/>
          </a:xfrm>
          <a:prstGeom prst="roundRect">
            <a:avLst>
              <a:gd name="adj" fmla="val 7273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378190" y="1664208"/>
            <a:ext cx="438912" cy="438912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36" name="Image 6" descr="/home/claude/icons/FaTru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5249" y="1721267"/>
            <a:ext cx="324795" cy="32479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939278" y="2176272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9164574" y="2057400"/>
            <a:ext cx="113157" cy="9144"/>
          </a:xfrm>
          <a:prstGeom prst="line">
            <a:avLst/>
          </a:prstGeom>
          <a:noFill/>
          <a:ln w="19050">
            <a:solidFill>
              <a:srgbClr val="039743"/>
            </a:solidFill>
            <a:prstDash val="solid"/>
            <a:tailEnd type="triangle"/>
          </a:ln>
        </p:spPr>
      </p:sp>
      <p:sp>
        <p:nvSpPr>
          <p:cNvPr id="39" name="Shape 30"/>
          <p:cNvSpPr/>
          <p:nvPr/>
        </p:nvSpPr>
        <p:spPr>
          <a:xfrm>
            <a:off x="9277731" y="1554480"/>
            <a:ext cx="1133856" cy="1005840"/>
          </a:xfrm>
          <a:prstGeom prst="roundRect">
            <a:avLst>
              <a:gd name="adj" fmla="val 7273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625203" y="1664208"/>
            <a:ext cx="438912" cy="438912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41" name="Image 7" descr="/home/claude/icons/FaMapMarkerAlt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82262" y="1721267"/>
            <a:ext cx="324795" cy="324795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86291" y="2176272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</a:t>
            </a:r>
            <a:endParaRPr lang="en-US" sz="950" dirty="0"/>
          </a:p>
        </p:txBody>
      </p:sp>
      <p:sp>
        <p:nvSpPr>
          <p:cNvPr id="43" name="Shape 33"/>
          <p:cNvSpPr/>
          <p:nvPr/>
        </p:nvSpPr>
        <p:spPr>
          <a:xfrm>
            <a:off x="10411587" y="2057400"/>
            <a:ext cx="113157" cy="9144"/>
          </a:xfrm>
          <a:prstGeom prst="line">
            <a:avLst/>
          </a:prstGeom>
          <a:noFill/>
          <a:ln w="19050">
            <a:solidFill>
              <a:srgbClr val="039743"/>
            </a:solidFill>
            <a:prstDash val="solid"/>
            <a:tailEnd type="triangle"/>
          </a:ln>
        </p:spPr>
      </p:sp>
      <p:sp>
        <p:nvSpPr>
          <p:cNvPr id="44" name="Shape 34"/>
          <p:cNvSpPr/>
          <p:nvPr/>
        </p:nvSpPr>
        <p:spPr>
          <a:xfrm>
            <a:off x="10524744" y="1554480"/>
            <a:ext cx="1133856" cy="1005840"/>
          </a:xfrm>
          <a:prstGeom prst="roundRect">
            <a:avLst>
              <a:gd name="adj" fmla="val 7273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10872216" y="1664208"/>
            <a:ext cx="438912" cy="438912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46" name="Image 8" descr="/home/claude/icons/FaBoxes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29275" y="1721267"/>
            <a:ext cx="324795" cy="324795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10433304" y="2176272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50" dirty="0"/>
          </a:p>
        </p:txBody>
      </p:sp>
      <p:sp>
        <p:nvSpPr>
          <p:cNvPr id="48" name="Shape 37"/>
          <p:cNvSpPr/>
          <p:nvPr/>
        </p:nvSpPr>
        <p:spPr>
          <a:xfrm>
            <a:off x="11091672" y="2560320"/>
            <a:ext cx="9144" cy="502920"/>
          </a:xfrm>
          <a:prstGeom prst="line">
            <a:avLst/>
          </a:prstGeom>
          <a:noFill/>
          <a:ln w="19050">
            <a:solidFill>
              <a:srgbClr val="039743"/>
            </a:solidFill>
            <a:prstDash val="solid"/>
            <a:tailEnd type="triangle"/>
          </a:ln>
        </p:spPr>
      </p:sp>
      <p:sp>
        <p:nvSpPr>
          <p:cNvPr id="49" name="Shape 38"/>
          <p:cNvSpPr/>
          <p:nvPr/>
        </p:nvSpPr>
        <p:spPr>
          <a:xfrm>
            <a:off x="9265615" y="310896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EFF7F2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50" name="Shape 39"/>
          <p:cNvSpPr/>
          <p:nvPr/>
        </p:nvSpPr>
        <p:spPr>
          <a:xfrm>
            <a:off x="9411919" y="3392424"/>
            <a:ext cx="438912" cy="438912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51" name="Image 9" descr="/home/claude/icons/FaBriefcase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68978" y="3449483"/>
            <a:ext cx="324795" cy="324795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9942271" y="310896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1150" dirty="0"/>
          </a:p>
        </p:txBody>
      </p:sp>
      <p:sp>
        <p:nvSpPr>
          <p:cNvPr id="53" name="Shape 41"/>
          <p:cNvSpPr/>
          <p:nvPr/>
        </p:nvSpPr>
        <p:spPr>
          <a:xfrm>
            <a:off x="6632143" y="310896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EFF7F2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54" name="Shape 42"/>
          <p:cNvSpPr/>
          <p:nvPr/>
        </p:nvSpPr>
        <p:spPr>
          <a:xfrm>
            <a:off x="6778447" y="3392424"/>
            <a:ext cx="438912" cy="438912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55" name="Image 10" descr="/home/claude/icons/FaChartLine_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35506" y="3449483"/>
            <a:ext cx="324795" cy="324795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7308799" y="310896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50" dirty="0"/>
          </a:p>
        </p:txBody>
      </p:sp>
      <p:sp>
        <p:nvSpPr>
          <p:cNvPr id="57" name="Shape 44"/>
          <p:cNvSpPr/>
          <p:nvPr/>
        </p:nvSpPr>
        <p:spPr>
          <a:xfrm>
            <a:off x="3998671" y="310896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EFF7F2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58" name="Shape 45"/>
          <p:cNvSpPr/>
          <p:nvPr/>
        </p:nvSpPr>
        <p:spPr>
          <a:xfrm>
            <a:off x="4144975" y="3392424"/>
            <a:ext cx="438912" cy="438912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59" name="Image 11" descr="/home/claude/icons/FaChartBar_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02034" y="3449483"/>
            <a:ext cx="324795" cy="324795"/>
          </a:xfrm>
          <a:prstGeom prst="rect">
            <a:avLst/>
          </a:prstGeom>
        </p:spPr>
      </p:pic>
      <p:sp>
        <p:nvSpPr>
          <p:cNvPr id="60" name="Text 46"/>
          <p:cNvSpPr/>
          <p:nvPr/>
        </p:nvSpPr>
        <p:spPr>
          <a:xfrm>
            <a:off x="4675327" y="310896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Mgmt.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61" name="Shape 47"/>
          <p:cNvSpPr/>
          <p:nvPr/>
        </p:nvSpPr>
        <p:spPr>
          <a:xfrm>
            <a:off x="1365199" y="310896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EFF7F2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62" name="Shape 48"/>
          <p:cNvSpPr/>
          <p:nvPr/>
        </p:nvSpPr>
        <p:spPr>
          <a:xfrm>
            <a:off x="1511503" y="3392424"/>
            <a:ext cx="438912" cy="438912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63" name="Image 12" descr="/home/claude/icons/FaFileInvoiceDollar_whit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68562" y="3449483"/>
            <a:ext cx="324795" cy="324795"/>
          </a:xfrm>
          <a:prstGeom prst="rect">
            <a:avLst/>
          </a:prstGeom>
        </p:spPr>
      </p:pic>
      <p:sp>
        <p:nvSpPr>
          <p:cNvPr id="64" name="Text 49"/>
          <p:cNvSpPr/>
          <p:nvPr/>
        </p:nvSpPr>
        <p:spPr>
          <a:xfrm>
            <a:off x="2041855" y="310896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50" dirty="0"/>
          </a:p>
        </p:txBody>
      </p:sp>
      <p:sp>
        <p:nvSpPr>
          <p:cNvPr id="65" name="Shape 50"/>
          <p:cNvSpPr/>
          <p:nvPr/>
        </p:nvSpPr>
        <p:spPr>
          <a:xfrm>
            <a:off x="3742639" y="3611880"/>
            <a:ext cx="256032" cy="9144"/>
          </a:xfrm>
          <a:prstGeom prst="line">
            <a:avLst/>
          </a:prstGeom>
          <a:noFill/>
          <a:ln w="19050">
            <a:solidFill>
              <a:srgbClr val="0B3D2E"/>
            </a:solidFill>
            <a:prstDash val="solid"/>
            <a:tailEnd type="triangle"/>
          </a:ln>
        </p:spPr>
      </p:sp>
      <p:sp>
        <p:nvSpPr>
          <p:cNvPr id="66" name="Shape 51"/>
          <p:cNvSpPr/>
          <p:nvPr/>
        </p:nvSpPr>
        <p:spPr>
          <a:xfrm>
            <a:off x="6376111" y="3611880"/>
            <a:ext cx="256032" cy="9144"/>
          </a:xfrm>
          <a:prstGeom prst="line">
            <a:avLst/>
          </a:prstGeom>
          <a:noFill/>
          <a:ln w="19050">
            <a:solidFill>
              <a:srgbClr val="0B3D2E"/>
            </a:solidFill>
            <a:prstDash val="solid"/>
            <a:tailEnd type="triangle"/>
          </a:ln>
        </p:spPr>
      </p:sp>
      <p:sp>
        <p:nvSpPr>
          <p:cNvPr id="67" name="Shape 52"/>
          <p:cNvSpPr/>
          <p:nvPr/>
        </p:nvSpPr>
        <p:spPr>
          <a:xfrm>
            <a:off x="9009583" y="3611880"/>
            <a:ext cx="256032" cy="9144"/>
          </a:xfrm>
          <a:prstGeom prst="line">
            <a:avLst/>
          </a:prstGeom>
          <a:noFill/>
          <a:ln w="19050">
            <a:solidFill>
              <a:srgbClr val="0B3D2E"/>
            </a:solidFill>
            <a:prstDash val="solid"/>
            <a:tailEnd type="triangle"/>
          </a:ln>
        </p:spPr>
      </p:sp>
      <p:sp>
        <p:nvSpPr>
          <p:cNvPr id="68" name="Shape 53"/>
          <p:cNvSpPr/>
          <p:nvPr/>
        </p:nvSpPr>
        <p:spPr>
          <a:xfrm>
            <a:off x="548640" y="4617720"/>
            <a:ext cx="11109960" cy="1051560"/>
          </a:xfrm>
          <a:prstGeom prst="roundRect">
            <a:avLst>
              <a:gd name="adj" fmla="val 8696"/>
            </a:avLst>
          </a:prstGeom>
          <a:solidFill>
            <a:srgbClr val="0B3D2E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69" name="Text 54"/>
          <p:cNvSpPr/>
          <p:nvPr/>
        </p:nvSpPr>
        <p:spPr>
          <a:xfrm>
            <a:off x="868680" y="46177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order in the parent's hands becomes a reconciled invoice in Finance, a live figure on the Management Dashboard, and a trend in NXT's analytics — the same day, with no manual re-entry.</a:t>
            </a:r>
            <a:endParaRPr lang="en-US" sz="1300" dirty="0"/>
          </a:p>
        </p:txBody>
      </p:sp>
      <p:sp>
        <p:nvSpPr>
          <p:cNvPr id="70" name="Text 55"/>
          <p:cNvSpPr/>
          <p:nvPr/>
        </p:nvSpPr>
        <p:spPr>
          <a:xfrm>
            <a:off x="45720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PREPARED FOR INVENTRE</a:t>
            </a:r>
            <a:endParaRPr lang="en-US" sz="850" dirty="0"/>
          </a:p>
        </p:txBody>
      </p:sp>
      <p:sp>
        <p:nvSpPr>
          <p:cNvPr id="71" name="Text 56"/>
          <p:cNvSpPr/>
          <p:nvPr/>
        </p:nvSpPr>
        <p:spPr>
          <a:xfrm>
            <a:off x="1127729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39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SOLUTION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Three Platforms, Not One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large enterprise separates these three responsibilities — Amazon, SAP, Oracle and Microsoft all draw this exact line.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109960" cy="1170432"/>
          </a:xfrm>
          <a:prstGeom prst="roundRect">
            <a:avLst>
              <a:gd name="adj" fmla="val 7813"/>
            </a:avLst>
          </a:prstGeom>
          <a:solidFill>
            <a:srgbClr val="039743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76856"/>
            <a:ext cx="548640" cy="548640"/>
          </a:xfrm>
          <a:prstGeom prst="ellipse">
            <a:avLst/>
          </a:prstGeom>
          <a:solidFill>
            <a:srgbClr val="000000">
              <a:alpha val="45000"/>
            </a:srgbClr>
          </a:solidFill>
          <a:ln/>
        </p:spPr>
      </p:sp>
      <p:pic>
        <p:nvPicPr>
          <p:cNvPr id="7" name="Image 0" descr="/home/claude/icons/FaShoppingC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" y="2348179"/>
            <a:ext cx="405994" cy="4059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0939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BE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508760" y="236829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Inventre eCommerce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5074920" y="2148840"/>
            <a:ext cx="9144" cy="80467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tailEnd type="none"/>
          </a:ln>
        </p:spPr>
      </p:sp>
      <p:sp>
        <p:nvSpPr>
          <p:cNvPr id="11" name="Text 8"/>
          <p:cNvSpPr/>
          <p:nvPr/>
        </p:nvSpPr>
        <p:spPr>
          <a:xfrm>
            <a:off x="5349240" y="1965960"/>
            <a:ext cx="6126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parent and student experience — ordering, payment, tracking.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97280" y="3136392"/>
            <a:ext cx="9144" cy="182880"/>
          </a:xfrm>
          <a:prstGeom prst="line">
            <a:avLst/>
          </a:prstGeom>
          <a:noFill/>
          <a:ln w="19050">
            <a:solidFill>
              <a:srgbClr val="5B6B62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48640" y="3319272"/>
            <a:ext cx="11109960" cy="1170432"/>
          </a:xfrm>
          <a:prstGeom prst="roundRect">
            <a:avLst>
              <a:gd name="adj" fmla="val 7813"/>
            </a:avLst>
          </a:prstGeom>
          <a:solidFill>
            <a:srgbClr val="0E5C3D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2960" y="3630168"/>
            <a:ext cx="548640" cy="548640"/>
          </a:xfrm>
          <a:prstGeom prst="ellipse">
            <a:avLst/>
          </a:prstGeom>
          <a:solidFill>
            <a:srgbClr val="000000">
              <a:alpha val="45000"/>
            </a:srgbClr>
          </a:solidFill>
          <a:ln/>
        </p:spPr>
      </p:sp>
      <p:pic>
        <p:nvPicPr>
          <p:cNvPr id="15" name="Image 1" descr="/home/claude/icons/FaCog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83" y="3701491"/>
            <a:ext cx="405994" cy="40599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08760" y="34472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BE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OPERATIONS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508760" y="37216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Inventre ERP</a:t>
            </a:r>
            <a:endParaRPr lang="en-US" sz="1900" dirty="0"/>
          </a:p>
        </p:txBody>
      </p:sp>
      <p:sp>
        <p:nvSpPr>
          <p:cNvPr id="18" name="Shape 14"/>
          <p:cNvSpPr/>
          <p:nvPr/>
        </p:nvSpPr>
        <p:spPr>
          <a:xfrm>
            <a:off x="5074920" y="3502152"/>
            <a:ext cx="9144" cy="80467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tailEnd type="none"/>
          </a:ln>
        </p:spPr>
      </p:sp>
      <p:sp>
        <p:nvSpPr>
          <p:cNvPr id="19" name="Text 15"/>
          <p:cNvSpPr/>
          <p:nvPr/>
        </p:nvSpPr>
        <p:spPr>
          <a:xfrm>
            <a:off x="5349240" y="3319272"/>
            <a:ext cx="6126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business runs day to day — warehouse, call centre, procurement.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1097280" y="4489704"/>
            <a:ext cx="9144" cy="182880"/>
          </a:xfrm>
          <a:prstGeom prst="line">
            <a:avLst/>
          </a:prstGeom>
          <a:noFill/>
          <a:ln w="19050">
            <a:solidFill>
              <a:srgbClr val="5B6B62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548640" y="4672584"/>
            <a:ext cx="11109960" cy="1170432"/>
          </a:xfrm>
          <a:prstGeom prst="roundRect">
            <a:avLst>
              <a:gd name="adj" fmla="val 7813"/>
            </a:avLst>
          </a:prstGeom>
          <a:solidFill>
            <a:srgbClr val="0B3D2E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22960" y="4983480"/>
            <a:ext cx="548640" cy="548640"/>
          </a:xfrm>
          <a:prstGeom prst="ellipse">
            <a:avLst/>
          </a:prstGeom>
          <a:solidFill>
            <a:srgbClr val="000000">
              <a:alpha val="45000"/>
            </a:srgbClr>
          </a:solidFill>
          <a:ln/>
        </p:spPr>
      </p:sp>
      <p:pic>
        <p:nvPicPr>
          <p:cNvPr id="23" name="Image 2" descr="/home/claude/icons/FaChartLi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283" y="5054803"/>
            <a:ext cx="405994" cy="40599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508760" y="4800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BE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INTELLIGENCE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1508760" y="5074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Inventre NXT</a:t>
            </a:r>
            <a:endParaRPr lang="en-US" sz="1900" dirty="0"/>
          </a:p>
        </p:txBody>
      </p:sp>
      <p:sp>
        <p:nvSpPr>
          <p:cNvPr id="26" name="Shape 21"/>
          <p:cNvSpPr/>
          <p:nvPr/>
        </p:nvSpPr>
        <p:spPr>
          <a:xfrm>
            <a:off x="5074920" y="4855464"/>
            <a:ext cx="9144" cy="80467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tailEnd type="none"/>
          </a:ln>
        </p:spPr>
      </p:sp>
      <p:sp>
        <p:nvSpPr>
          <p:cNvPr id="27" name="Text 22"/>
          <p:cNvSpPr/>
          <p:nvPr/>
        </p:nvSpPr>
        <p:spPr>
          <a:xfrm>
            <a:off x="5349240" y="4672584"/>
            <a:ext cx="6126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source of truth — dashboards, analytics, predictive decisions.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45720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PREPARED FOR INVENTRE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1127729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39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OVERALL ENTERPRISE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Three Platforms Connect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76756"/>
            <a:ext cx="384048" cy="384048"/>
          </a:xfrm>
          <a:prstGeom prst="ellipse">
            <a:avLst/>
          </a:prstGeom>
          <a:solidFill>
            <a:srgbClr val="4C7C68"/>
          </a:solidFill>
          <a:ln/>
        </p:spPr>
      </p:sp>
      <p:pic>
        <p:nvPicPr>
          <p:cNvPr id="6" name="Image 0" descr="/home/claude/icons/Fa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6" y="1526682"/>
            <a:ext cx="284196" cy="2841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417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474720" y="141732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6160" y="1476756"/>
            <a:ext cx="384048" cy="384048"/>
          </a:xfrm>
          <a:prstGeom prst="ellipse">
            <a:avLst/>
          </a:prstGeom>
          <a:solidFill>
            <a:srgbClr val="4C7C68"/>
          </a:solidFill>
          <a:ln/>
        </p:spPr>
      </p:sp>
      <p:pic>
        <p:nvPicPr>
          <p:cNvPr id="10" name="Image 1" descr="/home/claude/icons/FaSchoo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086" y="1526682"/>
            <a:ext cx="284196" cy="2841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05072" y="1417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0" y="141732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92240" y="1476756"/>
            <a:ext cx="384048" cy="384048"/>
          </a:xfrm>
          <a:prstGeom prst="ellipse">
            <a:avLst/>
          </a:prstGeom>
          <a:solidFill>
            <a:srgbClr val="4C7C68"/>
          </a:solidFill>
          <a:ln/>
        </p:spPr>
      </p:sp>
      <p:pic>
        <p:nvPicPr>
          <p:cNvPr id="14" name="Image 2" descr="/home/claude/icons/FaHandshak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2166" y="1526682"/>
            <a:ext cx="284196" cy="2841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31152" y="1417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9326880" y="141732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418320" y="1476756"/>
            <a:ext cx="384048" cy="384048"/>
          </a:xfrm>
          <a:prstGeom prst="ellipse">
            <a:avLst/>
          </a:prstGeom>
          <a:solidFill>
            <a:srgbClr val="4C7C68"/>
          </a:solidFill>
          <a:ln/>
        </p:spPr>
      </p:sp>
      <p:pic>
        <p:nvPicPr>
          <p:cNvPr id="18" name="Image 3" descr="/home/claude/icons/FaBriefcas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8246" y="1526682"/>
            <a:ext cx="284196" cy="2841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857232" y="1417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095848" y="1920240"/>
            <a:ext cx="9144" cy="228600"/>
          </a:xfrm>
          <a:prstGeom prst="line">
            <a:avLst/>
          </a:prstGeom>
          <a:noFill/>
          <a:ln w="19050">
            <a:solidFill>
              <a:srgbClr val="5B6B62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2926080" y="2176272"/>
            <a:ext cx="6400800" cy="868680"/>
          </a:xfrm>
          <a:prstGeom prst="roundRect">
            <a:avLst>
              <a:gd name="adj" fmla="val 10526"/>
            </a:avLst>
          </a:prstGeom>
          <a:solidFill>
            <a:srgbClr val="039743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3127248" y="2331720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3" name="Image 4" descr="/home/claude/icons/FaShoppingCar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8571" y="2403043"/>
            <a:ext cx="405994" cy="40599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794760" y="2286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INVENTRE eCOMMERCE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3794760" y="25877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F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 Platform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5120640" y="3044952"/>
            <a:ext cx="9144" cy="265176"/>
          </a:xfrm>
          <a:prstGeom prst="line">
            <a:avLst/>
          </a:prstGeom>
          <a:noFill/>
          <a:ln w="19050">
            <a:solidFill>
              <a:srgbClr val="039743"/>
            </a:solidFill>
            <a:prstDash val="solid"/>
            <a:tailEnd type="triangle"/>
          </a:ln>
        </p:spPr>
      </p:sp>
      <p:sp>
        <p:nvSpPr>
          <p:cNvPr id="27" name="Text 20"/>
          <p:cNvSpPr/>
          <p:nvPr/>
        </p:nvSpPr>
        <p:spPr>
          <a:xfrm>
            <a:off x="2926080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· Registration</a:t>
            </a:r>
            <a:endParaRPr lang="en-US" sz="850" dirty="0"/>
          </a:p>
        </p:txBody>
      </p:sp>
      <p:sp>
        <p:nvSpPr>
          <p:cNvPr id="28" name="Text 21"/>
          <p:cNvSpPr/>
          <p:nvPr/>
        </p:nvSpPr>
        <p:spPr>
          <a:xfrm>
            <a:off x="6903720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· Tracking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2926080" y="3337560"/>
            <a:ext cx="6400800" cy="868680"/>
          </a:xfrm>
          <a:prstGeom prst="roundRect">
            <a:avLst>
              <a:gd name="adj" fmla="val 10526"/>
            </a:avLst>
          </a:prstGeom>
          <a:solidFill>
            <a:srgbClr val="0E5C3D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127248" y="3493008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31" name="Image 5" descr="/home/claude/icons/FaCog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98571" y="3564331"/>
            <a:ext cx="405994" cy="40599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794760" y="344728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INVENTRE ERP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3794760" y="3749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F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Operations Platform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3712464" y="4206240"/>
            <a:ext cx="9144" cy="228600"/>
          </a:xfrm>
          <a:prstGeom prst="line">
            <a:avLst/>
          </a:prstGeom>
          <a:noFill/>
          <a:ln w="16510">
            <a:solidFill>
              <a:srgbClr val="0E5C3D"/>
            </a:solidFill>
            <a:prstDash val="solid"/>
            <a:tailEnd type="triangle"/>
          </a:ln>
        </p:spPr>
      </p:sp>
      <p:sp>
        <p:nvSpPr>
          <p:cNvPr id="35" name="Shape 27"/>
          <p:cNvSpPr/>
          <p:nvPr/>
        </p:nvSpPr>
        <p:spPr>
          <a:xfrm>
            <a:off x="2926080" y="4434840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2999232" y="443484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5321808" y="4206240"/>
            <a:ext cx="9144" cy="228600"/>
          </a:xfrm>
          <a:prstGeom prst="line">
            <a:avLst/>
          </a:prstGeom>
          <a:noFill/>
          <a:ln w="16510">
            <a:solidFill>
              <a:srgbClr val="0E5C3D"/>
            </a:solidFill>
            <a:prstDash val="solid"/>
            <a:tailEnd type="triangle"/>
          </a:ln>
        </p:spPr>
      </p:sp>
      <p:sp>
        <p:nvSpPr>
          <p:cNvPr id="38" name="Shape 30"/>
          <p:cNvSpPr/>
          <p:nvPr/>
        </p:nvSpPr>
        <p:spPr>
          <a:xfrm>
            <a:off x="4535424" y="4434840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4608576" y="443484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6931152" y="4206240"/>
            <a:ext cx="9144" cy="228600"/>
          </a:xfrm>
          <a:prstGeom prst="line">
            <a:avLst/>
          </a:prstGeom>
          <a:noFill/>
          <a:ln w="16510">
            <a:solidFill>
              <a:srgbClr val="0E5C3D"/>
            </a:solidFill>
            <a:prstDash val="solid"/>
            <a:tailEnd type="triangle"/>
          </a:ln>
        </p:spPr>
      </p:sp>
      <p:sp>
        <p:nvSpPr>
          <p:cNvPr id="41" name="Shape 33"/>
          <p:cNvSpPr/>
          <p:nvPr/>
        </p:nvSpPr>
        <p:spPr>
          <a:xfrm>
            <a:off x="6144768" y="4434840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6217920" y="443484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8540496" y="4206240"/>
            <a:ext cx="9144" cy="228600"/>
          </a:xfrm>
          <a:prstGeom prst="line">
            <a:avLst/>
          </a:prstGeom>
          <a:noFill/>
          <a:ln w="16510">
            <a:solidFill>
              <a:srgbClr val="0E5C3D"/>
            </a:solidFill>
            <a:prstDash val="solid"/>
            <a:tailEnd type="triangle"/>
          </a:ln>
        </p:spPr>
      </p:sp>
      <p:sp>
        <p:nvSpPr>
          <p:cNvPr id="44" name="Shape 36"/>
          <p:cNvSpPr/>
          <p:nvPr/>
        </p:nvSpPr>
        <p:spPr>
          <a:xfrm>
            <a:off x="7754112" y="4434840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7827264" y="443484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5120640" y="4818888"/>
            <a:ext cx="9144" cy="256032"/>
          </a:xfrm>
          <a:prstGeom prst="line">
            <a:avLst/>
          </a:prstGeom>
          <a:noFill/>
          <a:ln w="19050">
            <a:solidFill>
              <a:srgbClr val="0B3D2E"/>
            </a:solidFill>
            <a:prstDash val="solid"/>
            <a:tailEnd type="triangle"/>
          </a:ln>
        </p:spPr>
      </p:sp>
      <p:sp>
        <p:nvSpPr>
          <p:cNvPr id="47" name="Shape 39"/>
          <p:cNvSpPr/>
          <p:nvPr/>
        </p:nvSpPr>
        <p:spPr>
          <a:xfrm>
            <a:off x="2926080" y="5102352"/>
            <a:ext cx="6400800" cy="868680"/>
          </a:xfrm>
          <a:prstGeom prst="roundRect">
            <a:avLst>
              <a:gd name="adj" fmla="val 10526"/>
            </a:avLst>
          </a:prstGeom>
          <a:solidFill>
            <a:srgbClr val="0B3D2E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3127248" y="5257800"/>
            <a:ext cx="548640" cy="548640"/>
          </a:xfrm>
          <a:prstGeom prst="ellipse">
            <a:avLst/>
          </a:prstGeom>
          <a:solidFill>
            <a:srgbClr val="F4C400"/>
          </a:solidFill>
          <a:ln/>
        </p:spPr>
      </p:sp>
      <p:pic>
        <p:nvPicPr>
          <p:cNvPr id="49" name="Image 6" descr="/home/claude/icons/FaChartLine_fore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98571" y="5329123"/>
            <a:ext cx="405994" cy="405994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3794760" y="5212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INVENTRE NXT</a:t>
            </a:r>
            <a:endParaRPr lang="en-US" sz="1350" dirty="0"/>
          </a:p>
        </p:txBody>
      </p:sp>
      <p:sp>
        <p:nvSpPr>
          <p:cNvPr id="51" name="Text 42"/>
          <p:cNvSpPr/>
          <p:nvPr/>
        </p:nvSpPr>
        <p:spPr>
          <a:xfrm>
            <a:off x="3794760" y="55138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BE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Intelligence Layer</a:t>
            </a:r>
            <a:endParaRPr lang="en-US" sz="1000" dirty="0"/>
          </a:p>
        </p:txBody>
      </p:sp>
      <p:sp>
        <p:nvSpPr>
          <p:cNvPr id="52" name="Shape 43"/>
          <p:cNvSpPr/>
          <p:nvPr/>
        </p:nvSpPr>
        <p:spPr>
          <a:xfrm>
            <a:off x="9601200" y="5102352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9692640" y="5102352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· Dashboards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· KPIs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Reports</a:t>
            </a:r>
            <a:endParaRPr lang="en-US" sz="900" dirty="0"/>
          </a:p>
        </p:txBody>
      </p:sp>
      <p:sp>
        <p:nvSpPr>
          <p:cNvPr id="54" name="Shape 45"/>
          <p:cNvSpPr/>
          <p:nvPr/>
        </p:nvSpPr>
        <p:spPr>
          <a:xfrm>
            <a:off x="9326880" y="5532120"/>
            <a:ext cx="274320" cy="9144"/>
          </a:xfrm>
          <a:prstGeom prst="line">
            <a:avLst/>
          </a:prstGeom>
          <a:noFill/>
          <a:ln w="16510">
            <a:solidFill>
              <a:srgbClr val="0B3D2E"/>
            </a:solidFill>
            <a:prstDash val="solid"/>
            <a:tailEnd type="triangle"/>
          </a:ln>
        </p:spPr>
      </p:sp>
      <p:sp>
        <p:nvSpPr>
          <p:cNvPr id="55" name="Text 46"/>
          <p:cNvSpPr/>
          <p:nvPr/>
        </p:nvSpPr>
        <p:spPr>
          <a:xfrm>
            <a:off x="45720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PREPARED FOR INVENTRE</a:t>
            </a:r>
            <a:endParaRPr lang="en-US" sz="850" dirty="0"/>
          </a:p>
        </p:txBody>
      </p:sp>
      <p:sp>
        <p:nvSpPr>
          <p:cNvPr id="56" name="Text 47"/>
          <p:cNvSpPr/>
          <p:nvPr/>
        </p:nvSpPr>
        <p:spPr>
          <a:xfrm>
            <a:off x="1127729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39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ECOMMERCE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Experience Platform — Layered 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839816" y="1417320"/>
            <a:ext cx="512064" cy="512064"/>
          </a:xfrm>
          <a:prstGeom prst="ellipse">
            <a:avLst/>
          </a:prstGeom>
          <a:solidFill>
            <a:srgbClr val="4C7C68"/>
          </a:solidFill>
          <a:ln/>
        </p:spPr>
      </p:sp>
      <p:pic>
        <p:nvPicPr>
          <p:cNvPr id="5" name="Image 0" descr="/home/claude/icons/Fa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384" y="1483888"/>
            <a:ext cx="378927" cy="3789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98568" y="19476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/ Student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095848" y="2203704"/>
            <a:ext cx="9144" cy="219456"/>
          </a:xfrm>
          <a:prstGeom prst="line">
            <a:avLst/>
          </a:prstGeom>
          <a:noFill/>
          <a:ln w="19050">
            <a:solidFill>
              <a:srgbClr val="5B6B62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389120" y="2441448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62272" y="2441448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 Portal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95848" y="2898648"/>
            <a:ext cx="9144" cy="210312"/>
          </a:xfrm>
          <a:prstGeom prst="line">
            <a:avLst/>
          </a:prstGeom>
          <a:noFill/>
          <a:ln w="19050">
            <a:solidFill>
              <a:srgbClr val="5B6B62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840480" y="3127248"/>
            <a:ext cx="4480560" cy="457200"/>
          </a:xfrm>
          <a:prstGeom prst="roundRect">
            <a:avLst>
              <a:gd name="adj" fmla="val 16000"/>
            </a:avLst>
          </a:prstGeom>
          <a:solidFill>
            <a:srgbClr val="0E5C3D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13632" y="3127248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Service  (OTP Login)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95848" y="3584448"/>
            <a:ext cx="9144" cy="210312"/>
          </a:xfrm>
          <a:prstGeom prst="line">
            <a:avLst/>
          </a:prstGeom>
          <a:noFill/>
          <a:ln w="19050">
            <a:solidFill>
              <a:srgbClr val="5B6B62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48640" y="3822192"/>
            <a:ext cx="11109960" cy="1005840"/>
          </a:xfrm>
          <a:prstGeom prst="roundRect">
            <a:avLst>
              <a:gd name="adj" fmla="val 9091"/>
            </a:avLst>
          </a:prstGeom>
          <a:solidFill>
            <a:srgbClr val="039743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70432" y="3950208"/>
            <a:ext cx="402336" cy="402336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6" name="Image 1" descr="/home/claude/icons/FaBoxe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736" y="4002512"/>
            <a:ext cx="297729" cy="29772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94360" y="44165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2747772" y="3950208"/>
            <a:ext cx="402336" cy="402336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9" name="Image 2" descr="/home/claude/icons/FaShoppingC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0076" y="4002512"/>
            <a:ext cx="297729" cy="29772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171700" y="44165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325112" y="3950208"/>
            <a:ext cx="402336" cy="402336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2" name="Image 3" descr="/home/claude/icons/FaClipboard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7416" y="4002512"/>
            <a:ext cx="297729" cy="29772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749040" y="44165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902452" y="3950208"/>
            <a:ext cx="402336" cy="402336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5" name="Image 4" descr="/home/claude/icons/FaCreditCar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4756" y="4002512"/>
            <a:ext cx="297729" cy="29772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26380" y="44165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7479792" y="3950208"/>
            <a:ext cx="402336" cy="402336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8" name="Image 5" descr="/home/claude/icons/FaBell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2096" y="4002512"/>
            <a:ext cx="297729" cy="297729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903720" y="44165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9057132" y="3950208"/>
            <a:ext cx="402336" cy="402336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31" name="Image 6" descr="/home/claude/icons/FaMapMarkerAl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9436" y="4002512"/>
            <a:ext cx="297729" cy="297729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481060" y="44165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10634472" y="3950208"/>
            <a:ext cx="402336" cy="402336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34" name="Image 7" descr="/home/claude/icons/FaUndo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86776" y="4002512"/>
            <a:ext cx="297729" cy="297729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10058400" y="44165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950" dirty="0"/>
          </a:p>
        </p:txBody>
      </p:sp>
      <p:sp>
        <p:nvSpPr>
          <p:cNvPr id="36" name="Shape 26"/>
          <p:cNvSpPr/>
          <p:nvPr/>
        </p:nvSpPr>
        <p:spPr>
          <a:xfrm>
            <a:off x="6095848" y="4837176"/>
            <a:ext cx="9144" cy="192024"/>
          </a:xfrm>
          <a:prstGeom prst="line">
            <a:avLst/>
          </a:prstGeom>
          <a:noFill/>
          <a:ln w="19050">
            <a:solidFill>
              <a:srgbClr val="5B6B62"/>
            </a:solidFill>
            <a:prstDash val="solid"/>
            <a:tailEnd type="triangle"/>
          </a:ln>
        </p:spPr>
      </p:sp>
      <p:sp>
        <p:nvSpPr>
          <p:cNvPr id="37" name="Shape 27"/>
          <p:cNvSpPr/>
          <p:nvPr/>
        </p:nvSpPr>
        <p:spPr>
          <a:xfrm>
            <a:off x="4389120" y="5047488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0E5C3D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4462272" y="5047488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39" name="Shape 29"/>
          <p:cNvSpPr/>
          <p:nvPr/>
        </p:nvSpPr>
        <p:spPr>
          <a:xfrm>
            <a:off x="4526280" y="5120640"/>
            <a:ext cx="310896" cy="310896"/>
          </a:xfrm>
          <a:prstGeom prst="ellipse">
            <a:avLst/>
          </a:prstGeom>
          <a:solidFill>
            <a:srgbClr val="000000">
              <a:alpha val="45000"/>
            </a:srgbClr>
          </a:solidFill>
          <a:ln/>
        </p:spPr>
      </p:sp>
      <p:pic>
        <p:nvPicPr>
          <p:cNvPr id="40" name="Image 8" descr="/home/claude/icons/FaDatabase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66696" y="5161056"/>
            <a:ext cx="230063" cy="230063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6095848" y="5504688"/>
            <a:ext cx="9144" cy="210312"/>
          </a:xfrm>
          <a:prstGeom prst="line">
            <a:avLst/>
          </a:prstGeom>
          <a:noFill/>
          <a:ln w="19050">
            <a:solidFill>
              <a:srgbClr val="5B6B62"/>
            </a:solidFill>
            <a:prstDash val="solid"/>
            <a:tailEnd type="triangle"/>
          </a:ln>
        </p:spPr>
      </p:sp>
      <p:sp>
        <p:nvSpPr>
          <p:cNvPr id="42" name="Shape 31"/>
          <p:cNvSpPr/>
          <p:nvPr/>
        </p:nvSpPr>
        <p:spPr>
          <a:xfrm>
            <a:off x="548640" y="5742432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621792" y="5742432"/>
            <a:ext cx="1911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Bridge</a:t>
            </a:r>
            <a:endParaRPr lang="en-US" sz="950" dirty="0"/>
          </a:p>
        </p:txBody>
      </p:sp>
      <p:sp>
        <p:nvSpPr>
          <p:cNvPr id="44" name="Shape 33"/>
          <p:cNvSpPr/>
          <p:nvPr/>
        </p:nvSpPr>
        <p:spPr>
          <a:xfrm>
            <a:off x="2811780" y="5742432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2884932" y="5742432"/>
            <a:ext cx="1911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Gateway</a:t>
            </a:r>
            <a:endParaRPr lang="en-US" sz="950" dirty="0"/>
          </a:p>
        </p:txBody>
      </p:sp>
      <p:sp>
        <p:nvSpPr>
          <p:cNvPr id="46" name="Shape 35"/>
          <p:cNvSpPr/>
          <p:nvPr/>
        </p:nvSpPr>
        <p:spPr>
          <a:xfrm>
            <a:off x="5074920" y="5742432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5148072" y="5742432"/>
            <a:ext cx="1911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(SMTP)</a:t>
            </a:r>
            <a:endParaRPr lang="en-US" sz="950" dirty="0"/>
          </a:p>
        </p:txBody>
      </p:sp>
      <p:sp>
        <p:nvSpPr>
          <p:cNvPr id="48" name="Shape 37"/>
          <p:cNvSpPr/>
          <p:nvPr/>
        </p:nvSpPr>
        <p:spPr>
          <a:xfrm>
            <a:off x="7338060" y="5742432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49" name="Text 38"/>
          <p:cNvSpPr/>
          <p:nvPr/>
        </p:nvSpPr>
        <p:spPr>
          <a:xfrm>
            <a:off x="7411212" y="5742432"/>
            <a:ext cx="1911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CCAvenue</a:t>
            </a:r>
            <a:endParaRPr lang="en-US" sz="950" dirty="0"/>
          </a:p>
        </p:txBody>
      </p:sp>
      <p:sp>
        <p:nvSpPr>
          <p:cNvPr id="50" name="Shape 39"/>
          <p:cNvSpPr/>
          <p:nvPr/>
        </p:nvSpPr>
        <p:spPr>
          <a:xfrm>
            <a:off x="9601200" y="5742432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9674352" y="5742432"/>
            <a:ext cx="1911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 (Courier)</a:t>
            </a:r>
            <a:endParaRPr lang="en-US" sz="950" dirty="0"/>
          </a:p>
        </p:txBody>
      </p:sp>
      <p:sp>
        <p:nvSpPr>
          <p:cNvPr id="52" name="Text 41"/>
          <p:cNvSpPr/>
          <p:nvPr/>
        </p:nvSpPr>
        <p:spPr>
          <a:xfrm>
            <a:off x="45720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PREPARED FOR INVENTRE</a:t>
            </a:r>
            <a:endParaRPr lang="en-US" sz="850" dirty="0"/>
          </a:p>
        </p:txBody>
      </p:sp>
      <p:sp>
        <p:nvSpPr>
          <p:cNvPr id="53" name="Text 42"/>
          <p:cNvSpPr/>
          <p:nvPr/>
        </p:nvSpPr>
        <p:spPr>
          <a:xfrm>
            <a:off x="1127729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39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ERP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Operations Platform — Enterprise Hub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10048" y="1645920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0B3D2E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84952" y="1828800"/>
            <a:ext cx="621792" cy="621792"/>
          </a:xfrm>
          <a:prstGeom prst="ellipse">
            <a:avLst/>
          </a:prstGeom>
          <a:solidFill>
            <a:srgbClr val="F4C400"/>
          </a:solidFill>
          <a:ln/>
        </p:spPr>
      </p:sp>
      <p:pic>
        <p:nvPicPr>
          <p:cNvPr id="6" name="Image 0" descr="/home/claude/icons/FaCogs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785" y="1909633"/>
            <a:ext cx="460126" cy="4601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10048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CORE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960120"/>
            <a:ext cx="1965960" cy="777240"/>
          </a:xfrm>
          <a:prstGeom prst="roundRect">
            <a:avLst>
              <a:gd name="adj" fmla="val 10588"/>
            </a:avLst>
          </a:prstGeom>
          <a:solidFill>
            <a:srgbClr val="039743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30452" y="1051560"/>
            <a:ext cx="402336" cy="402336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0" name="Image 1" descr="/home/claude/icons/FaWarehou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2756" y="1103864"/>
            <a:ext cx="297729" cy="29772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147218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 flipV="1">
            <a:off x="1531620" y="1645920"/>
            <a:ext cx="4125316" cy="91440"/>
          </a:xfrm>
          <a:prstGeom prst="line">
            <a:avLst/>
          </a:prstGeom>
          <a:noFill/>
          <a:ln w="16510">
            <a:solidFill>
              <a:srgbClr val="039743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3596640" y="960120"/>
            <a:ext cx="1965960" cy="777240"/>
          </a:xfrm>
          <a:prstGeom prst="roundRect">
            <a:avLst>
              <a:gd name="adj" fmla="val 10588"/>
            </a:avLst>
          </a:prstGeom>
          <a:solidFill>
            <a:srgbClr val="039743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378452" y="1051560"/>
            <a:ext cx="402336" cy="402336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5" name="Image 2" descr="/home/claude/icons/FaBoxe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0756" y="1103864"/>
            <a:ext cx="297729" cy="29772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96640" y="147218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 flipV="1">
            <a:off x="4579620" y="1645920"/>
            <a:ext cx="1369924" cy="91440"/>
          </a:xfrm>
          <a:prstGeom prst="line">
            <a:avLst/>
          </a:prstGeom>
          <a:noFill/>
          <a:ln w="16510">
            <a:solidFill>
              <a:srgbClr val="039743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6644640" y="960120"/>
            <a:ext cx="1965960" cy="777240"/>
          </a:xfrm>
          <a:prstGeom prst="roundRect">
            <a:avLst>
              <a:gd name="adj" fmla="val 10588"/>
            </a:avLst>
          </a:prstGeom>
          <a:solidFill>
            <a:srgbClr val="039743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26452" y="1051560"/>
            <a:ext cx="402336" cy="402336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0" name="Image 3" descr="/home/claude/icons/FaHandshak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8756" y="1103864"/>
            <a:ext cx="297729" cy="29772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644640" y="147218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 flipH="1" flipV="1">
            <a:off x="6242152" y="1645920"/>
            <a:ext cx="1385468" cy="91440"/>
          </a:xfrm>
          <a:prstGeom prst="line">
            <a:avLst/>
          </a:prstGeom>
          <a:noFill/>
          <a:ln w="16510">
            <a:solidFill>
              <a:srgbClr val="039743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9692640" y="960120"/>
            <a:ext cx="1965960" cy="777240"/>
          </a:xfrm>
          <a:prstGeom prst="roundRect">
            <a:avLst>
              <a:gd name="adj" fmla="val 10588"/>
            </a:avLst>
          </a:prstGeom>
          <a:solidFill>
            <a:srgbClr val="039743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0474452" y="1051560"/>
            <a:ext cx="402336" cy="402336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5" name="Image 4" descr="/home/claude/icons/FaFileInvoiceDolla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26756" y="1103864"/>
            <a:ext cx="297729" cy="29772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692640" y="147218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 flipH="1" flipV="1">
            <a:off x="6534760" y="1645920"/>
            <a:ext cx="4140860" cy="91440"/>
          </a:xfrm>
          <a:prstGeom prst="line">
            <a:avLst/>
          </a:prstGeom>
          <a:noFill/>
          <a:ln w="16510">
            <a:solidFill>
              <a:srgbClr val="039743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548640" y="3977640"/>
            <a:ext cx="1965960" cy="777240"/>
          </a:xfrm>
          <a:prstGeom prst="roundRect">
            <a:avLst>
              <a:gd name="adj" fmla="val 10588"/>
            </a:avLst>
          </a:prstGeom>
          <a:solidFill>
            <a:srgbClr val="0E5C3D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1330452" y="4069080"/>
            <a:ext cx="402336" cy="402336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30" name="Image 5" descr="/home/claude/icons/FaTruc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2756" y="4121384"/>
            <a:ext cx="297729" cy="29772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48640" y="448970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 flipV="1">
            <a:off x="1531620" y="3017520"/>
            <a:ext cx="4125316" cy="960120"/>
          </a:xfrm>
          <a:prstGeom prst="line">
            <a:avLst/>
          </a:prstGeom>
          <a:noFill/>
          <a:ln w="16510">
            <a:solidFill>
              <a:srgbClr val="0E5C3D"/>
            </a:solidFill>
            <a:prstDash val="solid"/>
            <a:tailEnd type="triangle"/>
          </a:ln>
        </p:spPr>
      </p:sp>
      <p:sp>
        <p:nvSpPr>
          <p:cNvPr id="33" name="Shape 25"/>
          <p:cNvSpPr/>
          <p:nvPr/>
        </p:nvSpPr>
        <p:spPr>
          <a:xfrm>
            <a:off x="3596640" y="3977640"/>
            <a:ext cx="1965960" cy="777240"/>
          </a:xfrm>
          <a:prstGeom prst="roundRect">
            <a:avLst>
              <a:gd name="adj" fmla="val 10588"/>
            </a:avLst>
          </a:prstGeom>
          <a:solidFill>
            <a:srgbClr val="0E5C3D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378452" y="4069080"/>
            <a:ext cx="402336" cy="402336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35" name="Image 6" descr="/home/claude/icons/FaHeadse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0756" y="4121384"/>
            <a:ext cx="297729" cy="297729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3596640" y="448970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Centre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 flipV="1">
            <a:off x="4579620" y="3017520"/>
            <a:ext cx="1369924" cy="960120"/>
          </a:xfrm>
          <a:prstGeom prst="line">
            <a:avLst/>
          </a:prstGeom>
          <a:noFill/>
          <a:ln w="16510">
            <a:solidFill>
              <a:srgbClr val="0E5C3D"/>
            </a:solidFill>
            <a:prstDash val="solid"/>
            <a:tailEnd type="triangle"/>
          </a:ln>
        </p:spPr>
      </p:sp>
      <p:sp>
        <p:nvSpPr>
          <p:cNvPr id="38" name="Shape 29"/>
          <p:cNvSpPr/>
          <p:nvPr/>
        </p:nvSpPr>
        <p:spPr>
          <a:xfrm>
            <a:off x="6644640" y="3977640"/>
            <a:ext cx="1965960" cy="777240"/>
          </a:xfrm>
          <a:prstGeom prst="roundRect">
            <a:avLst>
              <a:gd name="adj" fmla="val 10588"/>
            </a:avLst>
          </a:prstGeom>
          <a:solidFill>
            <a:srgbClr val="0E5C3D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7426452" y="4069080"/>
            <a:ext cx="402336" cy="402336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40" name="Image 7" descr="/home/claude/icons/FaUsers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78756" y="4121384"/>
            <a:ext cx="297729" cy="297729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6644640" y="448970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 flipH="1" flipV="1">
            <a:off x="6242152" y="3017520"/>
            <a:ext cx="1385468" cy="960120"/>
          </a:xfrm>
          <a:prstGeom prst="line">
            <a:avLst/>
          </a:prstGeom>
          <a:noFill/>
          <a:ln w="16510">
            <a:solidFill>
              <a:srgbClr val="0E5C3D"/>
            </a:solidFill>
            <a:prstDash val="solid"/>
            <a:tailEnd type="triangle"/>
          </a:ln>
        </p:spPr>
      </p:sp>
      <p:sp>
        <p:nvSpPr>
          <p:cNvPr id="43" name="Shape 33"/>
          <p:cNvSpPr/>
          <p:nvPr/>
        </p:nvSpPr>
        <p:spPr>
          <a:xfrm>
            <a:off x="9692640" y="3977640"/>
            <a:ext cx="1965960" cy="777240"/>
          </a:xfrm>
          <a:prstGeom prst="roundRect">
            <a:avLst>
              <a:gd name="adj" fmla="val 10588"/>
            </a:avLst>
          </a:prstGeom>
          <a:solidFill>
            <a:srgbClr val="0E5C3D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10474452" y="4069080"/>
            <a:ext cx="402336" cy="402336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45" name="Image 8" descr="/home/claude/icons/FaDatabase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26756" y="4121384"/>
            <a:ext cx="297729" cy="297729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9692640" y="448970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</a:t>
            </a:r>
            <a:endParaRPr lang="en-US" sz="1000" dirty="0"/>
          </a:p>
        </p:txBody>
      </p:sp>
      <p:sp>
        <p:nvSpPr>
          <p:cNvPr id="47" name="Shape 36"/>
          <p:cNvSpPr/>
          <p:nvPr/>
        </p:nvSpPr>
        <p:spPr>
          <a:xfrm flipH="1" flipV="1">
            <a:off x="6534760" y="3017520"/>
            <a:ext cx="4140860" cy="960120"/>
          </a:xfrm>
          <a:prstGeom prst="line">
            <a:avLst/>
          </a:prstGeom>
          <a:noFill/>
          <a:ln w="16510">
            <a:solidFill>
              <a:srgbClr val="0E5C3D"/>
            </a:solidFill>
            <a:prstDash val="solid"/>
            <a:tailEnd type="triangle"/>
          </a:ln>
        </p:spPr>
      </p:sp>
      <p:sp>
        <p:nvSpPr>
          <p:cNvPr id="48" name="Shape 37"/>
          <p:cNvSpPr/>
          <p:nvPr/>
        </p:nvSpPr>
        <p:spPr>
          <a:xfrm>
            <a:off x="6095848" y="3035808"/>
            <a:ext cx="9144" cy="2039112"/>
          </a:xfrm>
          <a:prstGeom prst="line">
            <a:avLst/>
          </a:prstGeom>
          <a:noFill/>
          <a:ln w="19050">
            <a:solidFill>
              <a:srgbClr val="5B6B62"/>
            </a:solidFill>
            <a:prstDash val="solid"/>
            <a:tailEnd type="none"/>
          </a:ln>
        </p:spPr>
      </p:sp>
      <p:sp>
        <p:nvSpPr>
          <p:cNvPr id="49" name="Shape 38"/>
          <p:cNvSpPr/>
          <p:nvPr/>
        </p:nvSpPr>
        <p:spPr>
          <a:xfrm>
            <a:off x="4160520" y="512064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50" name="Text 39"/>
          <p:cNvSpPr/>
          <p:nvPr/>
        </p:nvSpPr>
        <p:spPr>
          <a:xfrm>
            <a:off x="4233672" y="5120640"/>
            <a:ext cx="3694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Suite</a:t>
            </a:r>
            <a:endParaRPr lang="en-US" sz="1150" dirty="0"/>
          </a:p>
        </p:txBody>
      </p:sp>
      <p:sp>
        <p:nvSpPr>
          <p:cNvPr id="51" name="Shape 40"/>
          <p:cNvSpPr/>
          <p:nvPr/>
        </p:nvSpPr>
        <p:spPr>
          <a:xfrm>
            <a:off x="6095848" y="5577840"/>
            <a:ext cx="9144" cy="201168"/>
          </a:xfrm>
          <a:prstGeom prst="line">
            <a:avLst/>
          </a:prstGeom>
          <a:noFill/>
          <a:ln w="19050">
            <a:solidFill>
              <a:srgbClr val="5B6B62"/>
            </a:solidFill>
            <a:prstDash val="solid"/>
            <a:tailEnd type="triangle"/>
          </a:ln>
        </p:spPr>
      </p:sp>
      <p:sp>
        <p:nvSpPr>
          <p:cNvPr id="52" name="Shape 41"/>
          <p:cNvSpPr/>
          <p:nvPr/>
        </p:nvSpPr>
        <p:spPr>
          <a:xfrm>
            <a:off x="3703320" y="5806440"/>
            <a:ext cx="4754880" cy="457200"/>
          </a:xfrm>
          <a:prstGeom prst="roundRect">
            <a:avLst>
              <a:gd name="adj" fmla="val 16000"/>
            </a:avLst>
          </a:prstGeom>
          <a:solidFill>
            <a:srgbClr val="0B3D2E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776472" y="5806440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Engine  (ERPNext · Zoho · MCB)</a:t>
            </a:r>
            <a:endParaRPr lang="en-US" sz="1100" dirty="0"/>
          </a:p>
        </p:txBody>
      </p:sp>
      <p:sp>
        <p:nvSpPr>
          <p:cNvPr id="54" name="Text 43"/>
          <p:cNvSpPr/>
          <p:nvPr/>
        </p:nvSpPr>
        <p:spPr>
          <a:xfrm>
            <a:off x="45720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PREPARED FOR INVENTRE</a:t>
            </a:r>
            <a:endParaRPr lang="en-US" sz="850" dirty="0"/>
          </a:p>
        </p:txBody>
      </p:sp>
      <p:sp>
        <p:nvSpPr>
          <p:cNvPr id="55" name="Text 44"/>
          <p:cNvSpPr/>
          <p:nvPr/>
        </p:nvSpPr>
        <p:spPr>
          <a:xfrm>
            <a:off x="1127729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4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NXT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Enterprise Intelligence Layer, Not Another App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895448" y="1463040"/>
            <a:ext cx="2377440" cy="640080"/>
          </a:xfrm>
          <a:prstGeom prst="roundRect">
            <a:avLst>
              <a:gd name="adj" fmla="val 12857"/>
            </a:avLst>
          </a:prstGeom>
          <a:solidFill>
            <a:srgbClr val="039743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23464" y="1554480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6" name="Image 0" descr="/home/claude/icons/FaShoppingC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2900" y="161391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81248" y="1463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918808" y="1463040"/>
            <a:ext cx="2377440" cy="640080"/>
          </a:xfrm>
          <a:prstGeom prst="roundRect">
            <a:avLst>
              <a:gd name="adj" fmla="val 12857"/>
            </a:avLst>
          </a:prstGeom>
          <a:solidFill>
            <a:srgbClr val="039743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046824" y="1554480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0" name="Image 1" descr="/home/claude/icons/FaCog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6260" y="1613916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04608" y="1463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084168" y="2103120"/>
            <a:ext cx="2011680" cy="411480"/>
          </a:xfrm>
          <a:prstGeom prst="line">
            <a:avLst/>
          </a:prstGeom>
          <a:noFill/>
          <a:ln w="16510">
            <a:solidFill>
              <a:srgbClr val="F4C400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 flipH="1">
            <a:off x="6095848" y="2103120"/>
            <a:ext cx="2011680" cy="411480"/>
          </a:xfrm>
          <a:prstGeom prst="line">
            <a:avLst/>
          </a:prstGeom>
          <a:noFill/>
          <a:ln w="16510">
            <a:solidFill>
              <a:srgbClr val="F4C400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358488" y="2542032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0E5C3D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431640" y="2542032"/>
            <a:ext cx="3328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095848" y="3090672"/>
            <a:ext cx="9144" cy="219456"/>
          </a:xfrm>
          <a:prstGeom prst="line">
            <a:avLst/>
          </a:prstGeom>
          <a:noFill/>
          <a:ln w="16510">
            <a:solidFill>
              <a:srgbClr val="F4C400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4084168" y="3337560"/>
            <a:ext cx="4023360" cy="594360"/>
          </a:xfrm>
          <a:prstGeom prst="roundRect">
            <a:avLst>
              <a:gd name="adj" fmla="val 15385"/>
            </a:avLst>
          </a:prstGeom>
          <a:solidFill>
            <a:srgbClr val="F4C400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221328" y="3410712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9" name="Image 2" descr="/home/claude/icons/FaDatabase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0764" y="3470148"/>
            <a:ext cx="338328" cy="33832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61408" y="33375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 (Single Source of Truth)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095848" y="3931920"/>
            <a:ext cx="9144" cy="228600"/>
          </a:xfrm>
          <a:prstGeom prst="line">
            <a:avLst/>
          </a:prstGeom>
          <a:noFill/>
          <a:ln w="16510">
            <a:solidFill>
              <a:srgbClr val="F4C400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3992728" y="4187952"/>
            <a:ext cx="4206240" cy="594360"/>
          </a:xfrm>
          <a:prstGeom prst="roundRect">
            <a:avLst>
              <a:gd name="adj" fmla="val 15385"/>
            </a:avLst>
          </a:prstGeom>
          <a:solidFill>
            <a:srgbClr val="0E5C3D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29888" y="4251960"/>
            <a:ext cx="457200" cy="457200"/>
          </a:xfrm>
          <a:prstGeom prst="ellipse">
            <a:avLst/>
          </a:prstGeom>
          <a:solidFill>
            <a:srgbClr val="F4C400"/>
          </a:solidFill>
          <a:ln/>
        </p:spPr>
      </p:sp>
      <p:pic>
        <p:nvPicPr>
          <p:cNvPr id="24" name="Image 3" descr="/home/claude/icons/FaRobot_for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9324" y="4311396"/>
            <a:ext cx="338328" cy="33832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769968" y="418795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 &amp; Prediction Engine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6095848" y="4782312"/>
            <a:ext cx="9144" cy="201168"/>
          </a:xfrm>
          <a:prstGeom prst="line">
            <a:avLst/>
          </a:prstGeom>
          <a:noFill/>
          <a:ln w="16510">
            <a:solidFill>
              <a:srgbClr val="F4C400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 flipH="1">
            <a:off x="1394460" y="4983480"/>
            <a:ext cx="4701388" cy="210312"/>
          </a:xfrm>
          <a:prstGeom prst="line">
            <a:avLst/>
          </a:prstGeom>
          <a:noFill/>
          <a:ln w="12700">
            <a:solidFill>
              <a:srgbClr val="F4C400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548640" y="5212080"/>
            <a:ext cx="1691640" cy="777240"/>
          </a:xfrm>
          <a:prstGeom prst="roundRect">
            <a:avLst>
              <a:gd name="adj" fmla="val 10588"/>
            </a:avLst>
          </a:prstGeom>
          <a:solidFill>
            <a:srgbClr val="0F473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211580" y="5303520"/>
            <a:ext cx="365760" cy="365760"/>
          </a:xfrm>
          <a:prstGeom prst="ellipse">
            <a:avLst/>
          </a:prstGeom>
          <a:solidFill>
            <a:srgbClr val="F4C400"/>
          </a:solidFill>
          <a:ln/>
        </p:spPr>
      </p:sp>
      <p:pic>
        <p:nvPicPr>
          <p:cNvPr id="30" name="Image 4" descr="/home/claude/icons/FaChartBar_fore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9129" y="5351069"/>
            <a:ext cx="270662" cy="27066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57200" y="57150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 flipH="1">
            <a:off x="3278124" y="4983480"/>
            <a:ext cx="2817724" cy="210312"/>
          </a:xfrm>
          <a:prstGeom prst="line">
            <a:avLst/>
          </a:prstGeom>
          <a:noFill/>
          <a:ln w="12700">
            <a:solidFill>
              <a:srgbClr val="F4C400"/>
            </a:solidFill>
            <a:prstDash val="solid"/>
            <a:tailEnd type="triangle"/>
          </a:ln>
        </p:spPr>
      </p:sp>
      <p:sp>
        <p:nvSpPr>
          <p:cNvPr id="33" name="Shape 26"/>
          <p:cNvSpPr/>
          <p:nvPr/>
        </p:nvSpPr>
        <p:spPr>
          <a:xfrm>
            <a:off x="2432304" y="5212080"/>
            <a:ext cx="1691640" cy="777240"/>
          </a:xfrm>
          <a:prstGeom prst="roundRect">
            <a:avLst>
              <a:gd name="adj" fmla="val 10588"/>
            </a:avLst>
          </a:prstGeom>
          <a:solidFill>
            <a:srgbClr val="0F473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3095244" y="5303520"/>
            <a:ext cx="365760" cy="365760"/>
          </a:xfrm>
          <a:prstGeom prst="ellipse">
            <a:avLst/>
          </a:prstGeom>
          <a:solidFill>
            <a:srgbClr val="F4C400"/>
          </a:solidFill>
          <a:ln/>
        </p:spPr>
      </p:sp>
      <p:pic>
        <p:nvPicPr>
          <p:cNvPr id="35" name="Image 5" descr="/home/claude/icons/FaBolt_fore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2793" y="5351069"/>
            <a:ext cx="270662" cy="27066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2340864" y="57150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 flipH="1">
            <a:off x="5161788" y="4983480"/>
            <a:ext cx="934060" cy="210312"/>
          </a:xfrm>
          <a:prstGeom prst="line">
            <a:avLst/>
          </a:prstGeom>
          <a:noFill/>
          <a:ln w="12700">
            <a:solidFill>
              <a:srgbClr val="F4C400"/>
            </a:solidFill>
            <a:prstDash val="solid"/>
            <a:tailEnd type="triangle"/>
          </a:ln>
        </p:spPr>
      </p:sp>
      <p:sp>
        <p:nvSpPr>
          <p:cNvPr id="38" name="Shape 30"/>
          <p:cNvSpPr/>
          <p:nvPr/>
        </p:nvSpPr>
        <p:spPr>
          <a:xfrm>
            <a:off x="4315968" y="5212080"/>
            <a:ext cx="1691640" cy="777240"/>
          </a:xfrm>
          <a:prstGeom prst="roundRect">
            <a:avLst>
              <a:gd name="adj" fmla="val 10588"/>
            </a:avLst>
          </a:prstGeom>
          <a:solidFill>
            <a:srgbClr val="0F473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4978908" y="5303520"/>
            <a:ext cx="365760" cy="365760"/>
          </a:xfrm>
          <a:prstGeom prst="ellipse">
            <a:avLst/>
          </a:prstGeom>
          <a:solidFill>
            <a:srgbClr val="F4C400"/>
          </a:solidFill>
          <a:ln/>
        </p:spPr>
      </p:sp>
      <p:pic>
        <p:nvPicPr>
          <p:cNvPr id="40" name="Image 6" descr="/home/claude/icons/FaSitemap_fore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6457" y="5351069"/>
            <a:ext cx="270662" cy="27066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4224528" y="57150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6095848" y="4983480"/>
            <a:ext cx="949604" cy="210312"/>
          </a:xfrm>
          <a:prstGeom prst="line">
            <a:avLst/>
          </a:prstGeom>
          <a:noFill/>
          <a:ln w="12700">
            <a:solidFill>
              <a:srgbClr val="F4C400"/>
            </a:solidFill>
            <a:prstDash val="solid"/>
            <a:tailEnd type="triangle"/>
          </a:ln>
        </p:spPr>
      </p:sp>
      <p:sp>
        <p:nvSpPr>
          <p:cNvPr id="43" name="Shape 34"/>
          <p:cNvSpPr/>
          <p:nvPr/>
        </p:nvSpPr>
        <p:spPr>
          <a:xfrm>
            <a:off x="6199632" y="5212080"/>
            <a:ext cx="1691640" cy="777240"/>
          </a:xfrm>
          <a:prstGeom prst="roundRect">
            <a:avLst>
              <a:gd name="adj" fmla="val 10588"/>
            </a:avLst>
          </a:prstGeom>
          <a:solidFill>
            <a:srgbClr val="0F473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6862572" y="5303520"/>
            <a:ext cx="365760" cy="365760"/>
          </a:xfrm>
          <a:prstGeom prst="ellipse">
            <a:avLst/>
          </a:prstGeom>
          <a:solidFill>
            <a:srgbClr val="F4C400"/>
          </a:solidFill>
          <a:ln/>
        </p:spPr>
      </p:sp>
      <p:pic>
        <p:nvPicPr>
          <p:cNvPr id="45" name="Image 7" descr="/home/claude/icons/FaBell_fores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10121" y="5351069"/>
            <a:ext cx="270662" cy="270662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6108192" y="57150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900" dirty="0"/>
          </a:p>
        </p:txBody>
      </p:sp>
      <p:sp>
        <p:nvSpPr>
          <p:cNvPr id="47" name="Shape 37"/>
          <p:cNvSpPr/>
          <p:nvPr/>
        </p:nvSpPr>
        <p:spPr>
          <a:xfrm>
            <a:off x="6095848" y="4983480"/>
            <a:ext cx="2833268" cy="210312"/>
          </a:xfrm>
          <a:prstGeom prst="line">
            <a:avLst/>
          </a:prstGeom>
          <a:noFill/>
          <a:ln w="12700">
            <a:solidFill>
              <a:srgbClr val="F4C400"/>
            </a:solidFill>
            <a:prstDash val="solid"/>
            <a:tailEnd type="triangle"/>
          </a:ln>
        </p:spPr>
      </p:sp>
      <p:sp>
        <p:nvSpPr>
          <p:cNvPr id="48" name="Shape 38"/>
          <p:cNvSpPr/>
          <p:nvPr/>
        </p:nvSpPr>
        <p:spPr>
          <a:xfrm>
            <a:off x="8083296" y="5212080"/>
            <a:ext cx="1691640" cy="777240"/>
          </a:xfrm>
          <a:prstGeom prst="roundRect">
            <a:avLst>
              <a:gd name="adj" fmla="val 10588"/>
            </a:avLst>
          </a:prstGeom>
          <a:solidFill>
            <a:srgbClr val="0F473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8746236" y="5303520"/>
            <a:ext cx="365760" cy="365760"/>
          </a:xfrm>
          <a:prstGeom prst="ellipse">
            <a:avLst/>
          </a:prstGeom>
          <a:solidFill>
            <a:srgbClr val="F4C400"/>
          </a:solidFill>
          <a:ln/>
        </p:spPr>
      </p:sp>
      <p:pic>
        <p:nvPicPr>
          <p:cNvPr id="50" name="Image 8" descr="/home/claude/icons/FaFileInvoiceDollar_fores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93785" y="5351069"/>
            <a:ext cx="270662" cy="270662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7991856" y="57150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Exec. Reports</a:t>
            </a:r>
            <a:endParaRPr lang="en-US" sz="900" dirty="0"/>
          </a:p>
        </p:txBody>
      </p:sp>
      <p:sp>
        <p:nvSpPr>
          <p:cNvPr id="52" name="Shape 41"/>
          <p:cNvSpPr/>
          <p:nvPr/>
        </p:nvSpPr>
        <p:spPr>
          <a:xfrm>
            <a:off x="6095848" y="4983480"/>
            <a:ext cx="4716932" cy="210312"/>
          </a:xfrm>
          <a:prstGeom prst="line">
            <a:avLst/>
          </a:prstGeom>
          <a:noFill/>
          <a:ln w="12700">
            <a:solidFill>
              <a:srgbClr val="F4C400"/>
            </a:solidFill>
            <a:prstDash val="solid"/>
            <a:tailEnd type="triangle"/>
          </a:ln>
        </p:spPr>
      </p:sp>
      <p:sp>
        <p:nvSpPr>
          <p:cNvPr id="53" name="Shape 42"/>
          <p:cNvSpPr/>
          <p:nvPr/>
        </p:nvSpPr>
        <p:spPr>
          <a:xfrm>
            <a:off x="9966960" y="5212080"/>
            <a:ext cx="1691640" cy="777240"/>
          </a:xfrm>
          <a:prstGeom prst="roundRect">
            <a:avLst>
              <a:gd name="adj" fmla="val 10588"/>
            </a:avLst>
          </a:prstGeom>
          <a:solidFill>
            <a:srgbClr val="0F473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10629900" y="5303520"/>
            <a:ext cx="365760" cy="365760"/>
          </a:xfrm>
          <a:prstGeom prst="ellipse">
            <a:avLst/>
          </a:prstGeom>
          <a:solidFill>
            <a:srgbClr val="F4C400"/>
          </a:solidFill>
          <a:ln/>
        </p:spPr>
      </p:sp>
      <p:pic>
        <p:nvPicPr>
          <p:cNvPr id="55" name="Image 9" descr="/home/claude/icons/FaChartLine_fores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77449" y="5351069"/>
            <a:ext cx="270662" cy="270662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9875520" y="57150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</a:t>
            </a:r>
            <a:endParaRPr lang="en-US" sz="900" dirty="0"/>
          </a:p>
        </p:txBody>
      </p:sp>
      <p:sp>
        <p:nvSpPr>
          <p:cNvPr id="57" name="Text 45"/>
          <p:cNvSpPr/>
          <p:nvPr/>
        </p:nvSpPr>
        <p:spPr>
          <a:xfrm>
            <a:off x="45720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PREPARED FOR INVENTRE</a:t>
            </a:r>
            <a:endParaRPr lang="en-US" sz="850" dirty="0"/>
          </a:p>
        </p:txBody>
      </p:sp>
      <p:sp>
        <p:nvSpPr>
          <p:cNvPr id="58" name="Text 46"/>
          <p:cNvSpPr/>
          <p:nvPr/>
        </p:nvSpPr>
        <p:spPr>
          <a:xfrm>
            <a:off x="1127729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39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CROSS-SYSTEM 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Platform Owns What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0B3D2E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508760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Function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480560" y="150876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0B3D2E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53712" y="150876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675120" y="150876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0B3D2E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48272" y="150876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869680" y="150876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0B3D2E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42832" y="150876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Inventre NXT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1965960"/>
            <a:ext cx="3931920" cy="402336"/>
          </a:xfrm>
          <a:prstGeom prst="roundRect">
            <a:avLst>
              <a:gd name="adj" fmla="val 18182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965960"/>
            <a:ext cx="3785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80560" y="1965960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58968" y="2048256"/>
            <a:ext cx="237744" cy="237744"/>
          </a:xfrm>
          <a:prstGeom prst="ellipse">
            <a:avLst/>
          </a:prstGeom>
          <a:solidFill>
            <a:srgbClr val="039743"/>
          </a:solidFill>
          <a:ln/>
        </p:spPr>
      </p:sp>
      <p:sp>
        <p:nvSpPr>
          <p:cNvPr id="16" name="Text 14"/>
          <p:cNvSpPr/>
          <p:nvPr/>
        </p:nvSpPr>
        <p:spPr>
          <a:xfrm>
            <a:off x="5458968" y="20482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1965960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53528" y="2048256"/>
            <a:ext cx="237744" cy="237744"/>
          </a:xfrm>
          <a:prstGeom prst="ellipse">
            <a:avLst/>
          </a:prstGeom>
          <a:solidFill>
            <a:srgbClr val="039743"/>
          </a:solidFill>
          <a:ln/>
        </p:spPr>
      </p:sp>
      <p:sp>
        <p:nvSpPr>
          <p:cNvPr id="19" name="Text 17"/>
          <p:cNvSpPr/>
          <p:nvPr/>
        </p:nvSpPr>
        <p:spPr>
          <a:xfrm>
            <a:off x="7653528" y="20482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869680" y="1965960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368296"/>
            <a:ext cx="39319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368296"/>
            <a:ext cx="3785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80560" y="2368296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58968" y="2450592"/>
            <a:ext cx="237744" cy="237744"/>
          </a:xfrm>
          <a:prstGeom prst="ellipse">
            <a:avLst/>
          </a:prstGeom>
          <a:solidFill>
            <a:srgbClr val="039743"/>
          </a:solidFill>
          <a:ln/>
        </p:spPr>
      </p:sp>
      <p:sp>
        <p:nvSpPr>
          <p:cNvPr id="25" name="Text 23"/>
          <p:cNvSpPr/>
          <p:nvPr/>
        </p:nvSpPr>
        <p:spPr>
          <a:xfrm>
            <a:off x="5458968" y="2450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75120" y="2368296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53528" y="2450592"/>
            <a:ext cx="237744" cy="237744"/>
          </a:xfrm>
          <a:prstGeom prst="ellipse">
            <a:avLst/>
          </a:prstGeom>
          <a:solidFill>
            <a:srgbClr val="039743"/>
          </a:solidFill>
          <a:ln/>
        </p:spPr>
      </p:sp>
      <p:sp>
        <p:nvSpPr>
          <p:cNvPr id="28" name="Text 26"/>
          <p:cNvSpPr/>
          <p:nvPr/>
        </p:nvSpPr>
        <p:spPr>
          <a:xfrm>
            <a:off x="7653528" y="2450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869680" y="2368296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2770632"/>
            <a:ext cx="3931920" cy="402336"/>
          </a:xfrm>
          <a:prstGeom prst="roundRect">
            <a:avLst>
              <a:gd name="adj" fmla="val 18182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2770632"/>
            <a:ext cx="3785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Portal / CRM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480560" y="2770632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58968" y="2852928"/>
            <a:ext cx="237744" cy="237744"/>
          </a:xfrm>
          <a:prstGeom prst="ellipse">
            <a:avLst/>
          </a:prstGeom>
          <a:solidFill>
            <a:srgbClr val="039743"/>
          </a:solidFill>
          <a:ln/>
        </p:spPr>
      </p:sp>
      <p:sp>
        <p:nvSpPr>
          <p:cNvPr id="34" name="Text 32"/>
          <p:cNvSpPr/>
          <p:nvPr/>
        </p:nvSpPr>
        <p:spPr>
          <a:xfrm>
            <a:off x="5458968" y="28529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75120" y="2770632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69680" y="2770632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3172968"/>
            <a:ext cx="39319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3172968"/>
            <a:ext cx="3785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480560" y="3172968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75120" y="3172968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53528" y="3255264"/>
            <a:ext cx="237744" cy="237744"/>
          </a:xfrm>
          <a:prstGeom prst="ellipse">
            <a:avLst/>
          </a:prstGeom>
          <a:solidFill>
            <a:srgbClr val="039743"/>
          </a:solidFill>
          <a:ln/>
        </p:spPr>
      </p:sp>
      <p:sp>
        <p:nvSpPr>
          <p:cNvPr id="42" name="Text 40"/>
          <p:cNvSpPr/>
          <p:nvPr/>
        </p:nvSpPr>
        <p:spPr>
          <a:xfrm>
            <a:off x="7653528" y="32552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869680" y="3172968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8640" y="3575304"/>
            <a:ext cx="3931920" cy="402336"/>
          </a:xfrm>
          <a:prstGeom prst="roundRect">
            <a:avLst>
              <a:gd name="adj" fmla="val 18182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3575304"/>
            <a:ext cx="3785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480560" y="3575304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75120" y="3575304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53528" y="3657600"/>
            <a:ext cx="237744" cy="237744"/>
          </a:xfrm>
          <a:prstGeom prst="ellipse">
            <a:avLst/>
          </a:prstGeom>
          <a:solidFill>
            <a:srgbClr val="039743"/>
          </a:solidFill>
          <a:ln/>
        </p:spPr>
      </p:sp>
      <p:sp>
        <p:nvSpPr>
          <p:cNvPr id="49" name="Text 47"/>
          <p:cNvSpPr/>
          <p:nvPr/>
        </p:nvSpPr>
        <p:spPr>
          <a:xfrm>
            <a:off x="7653528" y="3657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869680" y="3575304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" y="3977640"/>
            <a:ext cx="39319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" y="3977640"/>
            <a:ext cx="3785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/ Vendors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480560" y="3977640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75120" y="3977640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53528" y="4059936"/>
            <a:ext cx="237744" cy="237744"/>
          </a:xfrm>
          <a:prstGeom prst="ellipse">
            <a:avLst/>
          </a:prstGeom>
          <a:solidFill>
            <a:srgbClr val="039743"/>
          </a:solidFill>
          <a:ln/>
        </p:spPr>
      </p:sp>
      <p:sp>
        <p:nvSpPr>
          <p:cNvPr id="56" name="Text 54"/>
          <p:cNvSpPr/>
          <p:nvPr/>
        </p:nvSpPr>
        <p:spPr>
          <a:xfrm>
            <a:off x="7653528" y="40599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869680" y="3977640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8640" y="4379976"/>
            <a:ext cx="3931920" cy="402336"/>
          </a:xfrm>
          <a:prstGeom prst="roundRect">
            <a:avLst>
              <a:gd name="adj" fmla="val 18182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1792" y="4379976"/>
            <a:ext cx="3785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Centre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480560" y="4379976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675120" y="4379976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653528" y="4462272"/>
            <a:ext cx="237744" cy="237744"/>
          </a:xfrm>
          <a:prstGeom prst="ellipse">
            <a:avLst/>
          </a:prstGeom>
          <a:solidFill>
            <a:srgbClr val="039743"/>
          </a:solidFill>
          <a:ln/>
        </p:spPr>
      </p:sp>
      <p:sp>
        <p:nvSpPr>
          <p:cNvPr id="63" name="Text 61"/>
          <p:cNvSpPr/>
          <p:nvPr/>
        </p:nvSpPr>
        <p:spPr>
          <a:xfrm>
            <a:off x="7653528" y="4462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8869680" y="4379976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48640" y="4782312"/>
            <a:ext cx="39319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1792" y="4782312"/>
            <a:ext cx="3785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Ledger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480560" y="4782312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675120" y="4782312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653528" y="4864608"/>
            <a:ext cx="237744" cy="237744"/>
          </a:xfrm>
          <a:prstGeom prst="ellipse">
            <a:avLst/>
          </a:prstGeom>
          <a:solidFill>
            <a:srgbClr val="039743"/>
          </a:solidFill>
          <a:ln/>
        </p:spPr>
      </p:sp>
      <p:sp>
        <p:nvSpPr>
          <p:cNvPr id="70" name="Text 68"/>
          <p:cNvSpPr/>
          <p:nvPr/>
        </p:nvSpPr>
        <p:spPr>
          <a:xfrm>
            <a:off x="7653528" y="4864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8869680" y="4782312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848088" y="4864608"/>
            <a:ext cx="237744" cy="237744"/>
          </a:xfrm>
          <a:prstGeom prst="ellipse">
            <a:avLst/>
          </a:prstGeom>
          <a:solidFill>
            <a:srgbClr val="039743"/>
          </a:solidFill>
          <a:ln/>
        </p:spPr>
      </p:sp>
      <p:sp>
        <p:nvSpPr>
          <p:cNvPr id="73" name="Text 71"/>
          <p:cNvSpPr/>
          <p:nvPr/>
        </p:nvSpPr>
        <p:spPr>
          <a:xfrm>
            <a:off x="9848088" y="4864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548640" y="5184648"/>
            <a:ext cx="3931920" cy="402336"/>
          </a:xfrm>
          <a:prstGeom prst="roundRect">
            <a:avLst>
              <a:gd name="adj" fmla="val 18182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1792" y="5184648"/>
            <a:ext cx="3785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Reports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4480560" y="5184648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675120" y="5184648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869680" y="5184648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848088" y="5266944"/>
            <a:ext cx="237744" cy="237744"/>
          </a:xfrm>
          <a:prstGeom prst="ellipse">
            <a:avLst/>
          </a:prstGeom>
          <a:solidFill>
            <a:srgbClr val="039743"/>
          </a:solidFill>
          <a:ln/>
        </p:spPr>
      </p:sp>
      <p:sp>
        <p:nvSpPr>
          <p:cNvPr id="80" name="Text 78"/>
          <p:cNvSpPr/>
          <p:nvPr/>
        </p:nvSpPr>
        <p:spPr>
          <a:xfrm>
            <a:off x="9848088" y="52669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548640" y="5586984"/>
            <a:ext cx="39319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1792" y="5586984"/>
            <a:ext cx="3785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KPIs &amp; Predictions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4480560" y="5586984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675120" y="5586984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869680" y="5586984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848088" y="5669280"/>
            <a:ext cx="237744" cy="237744"/>
          </a:xfrm>
          <a:prstGeom prst="ellipse">
            <a:avLst/>
          </a:prstGeom>
          <a:solidFill>
            <a:srgbClr val="039743"/>
          </a:solidFill>
          <a:ln/>
        </p:spPr>
      </p:sp>
      <p:sp>
        <p:nvSpPr>
          <p:cNvPr id="87" name="Text 85"/>
          <p:cNvSpPr/>
          <p:nvPr/>
        </p:nvSpPr>
        <p:spPr>
          <a:xfrm>
            <a:off x="9848088" y="5669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45720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PREPARED FOR INVENTRE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1127729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39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DATA FLOW 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 — A Parent Buys a School Kit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5004" y="1664208"/>
            <a:ext cx="438912" cy="438912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6" name="Image 0" descr="/home/claude/icons/Fa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063" y="1721267"/>
            <a:ext cx="324795" cy="3247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579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240280" y="2011680"/>
            <a:ext cx="192024" cy="9144"/>
          </a:xfrm>
          <a:prstGeom prst="line">
            <a:avLst/>
          </a:prstGeom>
          <a:noFill/>
          <a:ln w="19050">
            <a:solidFill>
              <a:srgbClr val="03974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432304" y="15544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058668" y="1664208"/>
            <a:ext cx="438912" cy="438912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11" name="Image 1" descr="/home/claude/icons/FaShoppingC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5727" y="1721267"/>
            <a:ext cx="324795" cy="3247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40864" y="21579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123944" y="2011680"/>
            <a:ext cx="192024" cy="9144"/>
          </a:xfrm>
          <a:prstGeom prst="line">
            <a:avLst/>
          </a:prstGeom>
          <a:noFill/>
          <a:ln w="19050">
            <a:solidFill>
              <a:srgbClr val="03974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315968" y="15544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942332" y="1664208"/>
            <a:ext cx="438912" cy="438912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16" name="Image 2" descr="/home/claude/icons/FaCreditCar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9391" y="1721267"/>
            <a:ext cx="324795" cy="32479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224528" y="21579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007608" y="2011680"/>
            <a:ext cx="192024" cy="9144"/>
          </a:xfrm>
          <a:prstGeom prst="line">
            <a:avLst/>
          </a:prstGeom>
          <a:noFill/>
          <a:ln w="19050">
            <a:solidFill>
              <a:srgbClr val="03974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6199632" y="15544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25996" y="1664208"/>
            <a:ext cx="438912" cy="438912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21" name="Image 3" descr="/home/claude/icons/FaCog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3055" y="1721267"/>
            <a:ext cx="324795" cy="32479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08192" y="21579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Order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7891272" y="2011680"/>
            <a:ext cx="192024" cy="9144"/>
          </a:xfrm>
          <a:prstGeom prst="line">
            <a:avLst/>
          </a:prstGeom>
          <a:noFill/>
          <a:ln w="19050">
            <a:solidFill>
              <a:srgbClr val="039743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8083296" y="15544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709660" y="1664208"/>
            <a:ext cx="438912" cy="438912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26" name="Image 4" descr="/home/claude/icons/FaWarehous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6719" y="1721267"/>
            <a:ext cx="324795" cy="32479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991856" y="21579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9774936" y="2011680"/>
            <a:ext cx="192024" cy="9144"/>
          </a:xfrm>
          <a:prstGeom prst="line">
            <a:avLst/>
          </a:prstGeom>
          <a:noFill/>
          <a:ln w="19050">
            <a:solidFill>
              <a:srgbClr val="039743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>
            <a:off x="9966960" y="15544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10593324" y="1664208"/>
            <a:ext cx="438912" cy="438912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31" name="Image 5" descr="/home/claude/icons/FaTruc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0383" y="1721267"/>
            <a:ext cx="324795" cy="32479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875520" y="21579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10812780" y="2468880"/>
            <a:ext cx="9144" cy="228600"/>
          </a:xfrm>
          <a:prstGeom prst="line">
            <a:avLst/>
          </a:prstGeom>
          <a:noFill/>
          <a:ln w="19050">
            <a:solidFill>
              <a:srgbClr val="039743"/>
            </a:solidFill>
            <a:prstDash val="solid"/>
            <a:tailEnd type="triangle"/>
          </a:ln>
        </p:spPr>
      </p:sp>
      <p:sp>
        <p:nvSpPr>
          <p:cNvPr id="34" name="Shape 26"/>
          <p:cNvSpPr/>
          <p:nvPr/>
        </p:nvSpPr>
        <p:spPr>
          <a:xfrm>
            <a:off x="981151" y="2724912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FF7F2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109167" y="2962656"/>
            <a:ext cx="438912" cy="438912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36" name="Image 6" descr="/home/claude/icons/FaExchangeAl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6226" y="3019715"/>
            <a:ext cx="324795" cy="32479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621231" y="272491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→ eCommerce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3495751" y="3182112"/>
            <a:ext cx="201168" cy="9144"/>
          </a:xfrm>
          <a:prstGeom prst="line">
            <a:avLst/>
          </a:prstGeom>
          <a:noFill/>
          <a:ln w="19050">
            <a:solidFill>
              <a:srgbClr val="0B3D2E"/>
            </a:solidFill>
            <a:prstDash val="solid"/>
            <a:tailEnd type="triangle"/>
          </a:ln>
        </p:spPr>
      </p:sp>
      <p:sp>
        <p:nvSpPr>
          <p:cNvPr id="39" name="Shape 30"/>
          <p:cNvSpPr/>
          <p:nvPr/>
        </p:nvSpPr>
        <p:spPr>
          <a:xfrm>
            <a:off x="3696919" y="2724912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FF7F2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3824935" y="2962656"/>
            <a:ext cx="438912" cy="438912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41" name="Image 7" descr="/home/claude/icons/FaChartBar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81994" y="3019715"/>
            <a:ext cx="324795" cy="324795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4336999" y="272491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1050" dirty="0"/>
          </a:p>
        </p:txBody>
      </p:sp>
      <p:sp>
        <p:nvSpPr>
          <p:cNvPr id="43" name="Shape 33"/>
          <p:cNvSpPr/>
          <p:nvPr/>
        </p:nvSpPr>
        <p:spPr>
          <a:xfrm>
            <a:off x="6211519" y="3182112"/>
            <a:ext cx="201168" cy="9144"/>
          </a:xfrm>
          <a:prstGeom prst="line">
            <a:avLst/>
          </a:prstGeom>
          <a:noFill/>
          <a:ln w="19050">
            <a:solidFill>
              <a:srgbClr val="0B3D2E"/>
            </a:solidFill>
            <a:prstDash val="solid"/>
            <a:tailEnd type="triangle"/>
          </a:ln>
        </p:spPr>
      </p:sp>
      <p:sp>
        <p:nvSpPr>
          <p:cNvPr id="44" name="Shape 34"/>
          <p:cNvSpPr/>
          <p:nvPr/>
        </p:nvSpPr>
        <p:spPr>
          <a:xfrm>
            <a:off x="6412687" y="2724912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FF7F2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6540703" y="2962656"/>
            <a:ext cx="438912" cy="438912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46" name="Image 8" descr="/home/claude/icons/FaFileInvoiceDollar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7762" y="3019715"/>
            <a:ext cx="324795" cy="324795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7052767" y="272491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1050" dirty="0"/>
          </a:p>
        </p:txBody>
      </p:sp>
      <p:sp>
        <p:nvSpPr>
          <p:cNvPr id="48" name="Shape 37"/>
          <p:cNvSpPr/>
          <p:nvPr/>
        </p:nvSpPr>
        <p:spPr>
          <a:xfrm>
            <a:off x="8927287" y="3182112"/>
            <a:ext cx="201168" cy="9144"/>
          </a:xfrm>
          <a:prstGeom prst="line">
            <a:avLst/>
          </a:prstGeom>
          <a:noFill/>
          <a:ln w="19050">
            <a:solidFill>
              <a:srgbClr val="0B3D2E"/>
            </a:solidFill>
            <a:prstDash val="solid"/>
            <a:tailEnd type="triangle"/>
          </a:ln>
        </p:spPr>
      </p:sp>
      <p:sp>
        <p:nvSpPr>
          <p:cNvPr id="49" name="Shape 38"/>
          <p:cNvSpPr/>
          <p:nvPr/>
        </p:nvSpPr>
        <p:spPr>
          <a:xfrm>
            <a:off x="9128455" y="2724912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FF7F2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50" name="Shape 39"/>
          <p:cNvSpPr/>
          <p:nvPr/>
        </p:nvSpPr>
        <p:spPr>
          <a:xfrm>
            <a:off x="9256471" y="2962656"/>
            <a:ext cx="438912" cy="438912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51" name="Image 9" descr="/home/claude/icons/FaChartLine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13530" y="3019715"/>
            <a:ext cx="324795" cy="324795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9768535" y="272491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050" dirty="0"/>
          </a:p>
        </p:txBody>
      </p:sp>
      <p:sp>
        <p:nvSpPr>
          <p:cNvPr id="53" name="Shape 41"/>
          <p:cNvSpPr/>
          <p:nvPr/>
        </p:nvSpPr>
        <p:spPr>
          <a:xfrm>
            <a:off x="548640" y="3977640"/>
            <a:ext cx="11109960" cy="1051560"/>
          </a:xfrm>
          <a:prstGeom prst="roundRect">
            <a:avLst>
              <a:gd name="adj" fmla="val 8696"/>
            </a:avLst>
          </a:prstGeom>
          <a:solidFill>
            <a:srgbClr val="0B3D2E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54" name="Text 42"/>
          <p:cNvSpPr/>
          <p:nvPr/>
        </p:nvSpPr>
        <p:spPr>
          <a:xfrm>
            <a:off x="868680" y="39776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above is a real, governed data hand-off — not a manual re-entry. That is what makes Inventre NXT a single source of truth rather than a fourth silo.</a:t>
            </a:r>
            <a:endParaRPr lang="en-US" sz="1300" dirty="0"/>
          </a:p>
        </p:txBody>
      </p:sp>
      <p:sp>
        <p:nvSpPr>
          <p:cNvPr id="55" name="Shape 43"/>
          <p:cNvSpPr/>
          <p:nvPr/>
        </p:nvSpPr>
        <p:spPr>
          <a:xfrm>
            <a:off x="548640" y="521208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56" name="Shape 44"/>
          <p:cNvSpPr/>
          <p:nvPr/>
        </p:nvSpPr>
        <p:spPr>
          <a:xfrm>
            <a:off x="777240" y="5367528"/>
            <a:ext cx="457200" cy="457200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57" name="Image 10" descr="/home/claude/icons/FaShieldAlt_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6676" y="5426964"/>
            <a:ext cx="338328" cy="338328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1417320" y="521208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system is briefly unavailable: eCommerce queues the order and payment for retry; ERP holds the last confirmed inventory position; NXT displays the last synced figures with a clear "last updated" timestamp — nothing is lost, and leadership is never shown stale data as current.</a:t>
            </a:r>
            <a:endParaRPr lang="en-US" sz="1100" dirty="0"/>
          </a:p>
        </p:txBody>
      </p:sp>
      <p:sp>
        <p:nvSpPr>
          <p:cNvPr id="59" name="Text 46"/>
          <p:cNvSpPr/>
          <p:nvPr/>
        </p:nvSpPr>
        <p:spPr>
          <a:xfrm>
            <a:off x="45720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PREPARED FOR INVENTRE</a:t>
            </a:r>
            <a:endParaRPr lang="en-US" sz="850" dirty="0"/>
          </a:p>
        </p:txBody>
      </p:sp>
      <p:sp>
        <p:nvSpPr>
          <p:cNvPr id="60" name="Text 47"/>
          <p:cNvSpPr/>
          <p:nvPr/>
        </p:nvSpPr>
        <p:spPr>
          <a:xfrm>
            <a:off x="1127729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39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SECURITY &amp;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In at Every Layer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19072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6" name="Image 0" descr="/home/claude/icons/Fa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12" y="1784452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33172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OTP Login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3232" y="2633472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stored passwords for parent accounts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62272" y="1719072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1" name="Image 1" descr="/home/claude/icons/FaUser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7652" y="1784452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62272" y="233172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462272" y="2633472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Module-level read/write permission across 5+ roles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046720" y="15544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11312" y="1719072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6" name="Image 2" descr="/home/claude/icons/FaSitem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6692" y="1784452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11312" y="233172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School-Scoped Data Isolation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211312" y="2633472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Cross-school access architecturally prevented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3172968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13232" y="333756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1" name="Image 3" descr="/home/claude/icons/FaCreditCar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612" y="340294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" y="3950208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 Payment Handling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13232" y="425196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data never touches Inventre's servers (CCAvenue)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297680" y="3172968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62272" y="333756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6" name="Image 4" descr="/home/claude/icons/FaClipboardChe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7652" y="3402940"/>
            <a:ext cx="372161" cy="37216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62272" y="3950208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462272" y="425196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admin action and OTP event logged, tamper-evident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046720" y="3172968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11312" y="333756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31" name="Image 5" descr="/home/claude/icons/FaDatabas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6692" y="3402940"/>
            <a:ext cx="372161" cy="37216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11312" y="3950208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Single Source of Truth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8211312" y="425196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NXT enforces one consistent version of every record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PREPARED FOR INVENTRE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1127729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39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Platform Reaches Every User, Safely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56716" y="2057400"/>
            <a:ext cx="475488" cy="475488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6" name="Image 0" descr="/home/claude/icons/Fa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529" y="2119213"/>
            <a:ext cx="351861" cy="3518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606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240280" y="2441448"/>
            <a:ext cx="192024" cy="9144"/>
          </a:xfrm>
          <a:prstGeom prst="line">
            <a:avLst/>
          </a:prstGeom>
          <a:noFill/>
          <a:ln w="19050">
            <a:solidFill>
              <a:srgbClr val="03974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432304" y="192024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040380" y="2057400"/>
            <a:ext cx="475488" cy="475488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11" name="Image 1" descr="/home/claude/icons/FaClou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2193" y="2119213"/>
            <a:ext cx="351861" cy="3518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40864" y="2606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123944" y="2441448"/>
            <a:ext cx="192024" cy="9144"/>
          </a:xfrm>
          <a:prstGeom prst="line">
            <a:avLst/>
          </a:prstGeom>
          <a:noFill/>
          <a:ln w="19050">
            <a:solidFill>
              <a:srgbClr val="03974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315968" y="192024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924044" y="2057400"/>
            <a:ext cx="475488" cy="475488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16" name="Image 2" descr="/home/claude/icons/FaServ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5857" y="2119213"/>
            <a:ext cx="351861" cy="3518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224528" y="2606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007608" y="2441448"/>
            <a:ext cx="192024" cy="9144"/>
          </a:xfrm>
          <a:prstGeom prst="line">
            <a:avLst/>
          </a:prstGeom>
          <a:noFill/>
          <a:ln w="19050">
            <a:solidFill>
              <a:srgbClr val="03974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6199632" y="192024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07708" y="2057400"/>
            <a:ext cx="475488" cy="475488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21" name="Image 3" descr="/home/claude/icons/FaDatabas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9521" y="2119213"/>
            <a:ext cx="351861" cy="3518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08192" y="2606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7891272" y="2441448"/>
            <a:ext cx="192024" cy="9144"/>
          </a:xfrm>
          <a:prstGeom prst="line">
            <a:avLst/>
          </a:prstGeom>
          <a:noFill/>
          <a:ln w="19050">
            <a:solidFill>
              <a:srgbClr val="039743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8083296" y="192024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691372" y="2057400"/>
            <a:ext cx="475488" cy="475488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26" name="Image 4" descr="/home/claude/icons/FaShieldAl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3185" y="2119213"/>
            <a:ext cx="351861" cy="35186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991856" y="2606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9774936" y="2441448"/>
            <a:ext cx="192024" cy="9144"/>
          </a:xfrm>
          <a:prstGeom prst="line">
            <a:avLst/>
          </a:prstGeom>
          <a:noFill/>
          <a:ln w="19050">
            <a:solidFill>
              <a:srgbClr val="039743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>
            <a:off x="9966960" y="192024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  <a:effectLst>
            <a:outerShdw blurRad="76200" dist="25400" dir="5400000" algn="bl" rotWithShape="0">
              <a:srgbClr val="0B3D2E">
                <a:alpha val="1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10575036" y="2057400"/>
            <a:ext cx="475488" cy="475488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31" name="Image 5" descr="/home/claude/icons/FaChartLin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36849" y="2119213"/>
            <a:ext cx="351861" cy="35186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875520" y="2606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548640" y="3520440"/>
            <a:ext cx="11109960" cy="1600200"/>
          </a:xfrm>
          <a:prstGeom prst="roundRect">
            <a:avLst>
              <a:gd name="adj" fmla="val 5714"/>
            </a:avLst>
          </a:prstGeom>
          <a:solidFill>
            <a:srgbClr val="0B3D2E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914400" y="3785616"/>
            <a:ext cx="137160" cy="137160"/>
          </a:xfrm>
          <a:prstGeom prst="ellipse">
            <a:avLst/>
          </a:prstGeom>
          <a:solidFill>
            <a:srgbClr val="F4C400"/>
          </a:solidFill>
          <a:ln/>
        </p:spPr>
      </p:sp>
      <p:sp>
        <p:nvSpPr>
          <p:cNvPr id="35" name="Text 27"/>
          <p:cNvSpPr/>
          <p:nvPr/>
        </p:nvSpPr>
        <p:spPr>
          <a:xfrm>
            <a:off x="1188720" y="36576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environments: Development, Staging / UAT, and Production</a:t>
            </a:r>
            <a:endParaRPr lang="en-US" sz="1250" dirty="0"/>
          </a:p>
        </p:txBody>
      </p:sp>
      <p:sp>
        <p:nvSpPr>
          <p:cNvPr id="36" name="Shape 28"/>
          <p:cNvSpPr/>
          <p:nvPr/>
        </p:nvSpPr>
        <p:spPr>
          <a:xfrm>
            <a:off x="914400" y="4242816"/>
            <a:ext cx="137160" cy="137160"/>
          </a:xfrm>
          <a:prstGeom prst="ellipse">
            <a:avLst/>
          </a:prstGeom>
          <a:solidFill>
            <a:srgbClr val="F4C400"/>
          </a:solidFill>
          <a:ln/>
        </p:spPr>
      </p:sp>
      <p:sp>
        <p:nvSpPr>
          <p:cNvPr id="37" name="Text 29"/>
          <p:cNvSpPr/>
          <p:nvPr/>
        </p:nvSpPr>
        <p:spPr>
          <a:xfrm>
            <a:off x="1188720" y="41148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 on Linux, behind a reverse proxy with SSL/TLS</a:t>
            </a:r>
            <a:endParaRPr lang="en-US" sz="1250" dirty="0"/>
          </a:p>
        </p:txBody>
      </p:sp>
      <p:sp>
        <p:nvSpPr>
          <p:cNvPr id="38" name="Shape 30"/>
          <p:cNvSpPr/>
          <p:nvPr/>
        </p:nvSpPr>
        <p:spPr>
          <a:xfrm>
            <a:off x="914400" y="4700016"/>
            <a:ext cx="137160" cy="137160"/>
          </a:xfrm>
          <a:prstGeom prst="ellipse">
            <a:avLst/>
          </a:prstGeom>
          <a:solidFill>
            <a:srgbClr val="F4C400"/>
          </a:solidFill>
          <a:ln/>
        </p:spPr>
      </p:sp>
      <p:sp>
        <p:nvSpPr>
          <p:cNvPr id="39" name="Text 31"/>
          <p:cNvSpPr/>
          <p:nvPr/>
        </p:nvSpPr>
        <p:spPr>
          <a:xfrm>
            <a:off x="1188720" y="45720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 backup strategy and ongoing monitoring from day one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548640" y="534924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and hosting are provisioned by Inventre — see Infrastructure &amp; Exclusions in the commercial proposals.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45720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PREPARED FOR INVENTRE</a:t>
            </a:r>
            <a:endParaRPr lang="en-US" sz="850" dirty="0"/>
          </a:p>
        </p:txBody>
      </p:sp>
      <p:sp>
        <p:nvSpPr>
          <p:cNvPr id="42" name="Text 34"/>
          <p:cNvSpPr/>
          <p:nvPr/>
        </p:nvSpPr>
        <p:spPr>
          <a:xfrm>
            <a:off x="1127729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39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OWNERSHIP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Inventre Owns at the End of This Engagement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10512"/>
            <a:ext cx="237744" cy="237744"/>
          </a:xfrm>
          <a:prstGeom prst="ellipse">
            <a:avLst/>
          </a:prstGeom>
          <a:solidFill>
            <a:srgbClr val="039743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8105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0976" y="160020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eCommerce Platform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3337560" y="160020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47288" y="1810512"/>
            <a:ext cx="237744" cy="237744"/>
          </a:xfrm>
          <a:prstGeom prst="ellipse">
            <a:avLst/>
          </a:prstGeom>
          <a:solidFill>
            <a:srgbClr val="039743"/>
          </a:solidFill>
          <a:ln/>
        </p:spPr>
      </p:sp>
      <p:sp>
        <p:nvSpPr>
          <p:cNvPr id="10" name="Text 8"/>
          <p:cNvSpPr/>
          <p:nvPr/>
        </p:nvSpPr>
        <p:spPr>
          <a:xfrm>
            <a:off x="3447288" y="18105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39896" y="160020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ERP Platform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1810512"/>
            <a:ext cx="237744" cy="237744"/>
          </a:xfrm>
          <a:prstGeom prst="ellipse">
            <a:avLst/>
          </a:prstGeom>
          <a:solidFill>
            <a:srgbClr val="039743"/>
          </a:solidFill>
          <a:ln/>
        </p:spPr>
      </p:sp>
      <p:sp>
        <p:nvSpPr>
          <p:cNvPr id="14" name="Text 12"/>
          <p:cNvSpPr/>
          <p:nvPr/>
        </p:nvSpPr>
        <p:spPr>
          <a:xfrm>
            <a:off x="6236208" y="18105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28816" y="160020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Management Platform (NXT)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915400" y="160020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25128" y="1810512"/>
            <a:ext cx="237744" cy="237744"/>
          </a:xfrm>
          <a:prstGeom prst="ellipse">
            <a:avLst/>
          </a:prstGeom>
          <a:solidFill>
            <a:srgbClr val="039743"/>
          </a:solidFill>
          <a:ln/>
        </p:spPr>
      </p:sp>
      <p:sp>
        <p:nvSpPr>
          <p:cNvPr id="18" name="Text 16"/>
          <p:cNvSpPr/>
          <p:nvPr/>
        </p:nvSpPr>
        <p:spPr>
          <a:xfrm>
            <a:off x="9025128" y="18105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17736" y="160020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Portal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548640" y="2368296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2578608"/>
            <a:ext cx="237744" cy="237744"/>
          </a:xfrm>
          <a:prstGeom prst="ellipse">
            <a:avLst/>
          </a:prstGeom>
          <a:solidFill>
            <a:srgbClr val="039743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2578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0976" y="236829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Portal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3337560" y="2368296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47288" y="2578608"/>
            <a:ext cx="237744" cy="237744"/>
          </a:xfrm>
          <a:prstGeom prst="ellipse">
            <a:avLst/>
          </a:prstGeom>
          <a:solidFill>
            <a:srgbClr val="039743"/>
          </a:solidFill>
          <a:ln/>
        </p:spPr>
      </p:sp>
      <p:sp>
        <p:nvSpPr>
          <p:cNvPr id="26" name="Text 24"/>
          <p:cNvSpPr/>
          <p:nvPr/>
        </p:nvSpPr>
        <p:spPr>
          <a:xfrm>
            <a:off x="3447288" y="2578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39896" y="236829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System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6126480" y="2368296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36208" y="2578608"/>
            <a:ext cx="237744" cy="237744"/>
          </a:xfrm>
          <a:prstGeom prst="ellipse">
            <a:avLst/>
          </a:prstGeom>
          <a:solidFill>
            <a:srgbClr val="039743"/>
          </a:solidFill>
          <a:ln/>
        </p:spPr>
      </p:sp>
      <p:sp>
        <p:nvSpPr>
          <p:cNvPr id="30" name="Text 28"/>
          <p:cNvSpPr/>
          <p:nvPr/>
        </p:nvSpPr>
        <p:spPr>
          <a:xfrm>
            <a:off x="6236208" y="2578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28816" y="236829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Module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8915400" y="2368296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25128" y="2578608"/>
            <a:ext cx="237744" cy="237744"/>
          </a:xfrm>
          <a:prstGeom prst="ellipse">
            <a:avLst/>
          </a:prstGeom>
          <a:solidFill>
            <a:srgbClr val="039743"/>
          </a:solidFill>
          <a:ln/>
        </p:spPr>
      </p:sp>
      <p:sp>
        <p:nvSpPr>
          <p:cNvPr id="34" name="Text 32"/>
          <p:cNvSpPr/>
          <p:nvPr/>
        </p:nvSpPr>
        <p:spPr>
          <a:xfrm>
            <a:off x="9025128" y="2578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317736" y="236829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Suite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548640" y="3136392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368" y="3346704"/>
            <a:ext cx="237744" cy="237744"/>
          </a:xfrm>
          <a:prstGeom prst="ellipse">
            <a:avLst/>
          </a:prstGeom>
          <a:solidFill>
            <a:srgbClr val="039743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" y="33467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50976" y="313639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Dashboards</a:t>
            </a:r>
            <a:endParaRPr lang="en-US" sz="1030" dirty="0"/>
          </a:p>
        </p:txBody>
      </p:sp>
      <p:sp>
        <p:nvSpPr>
          <p:cNvPr id="40" name="Shape 38"/>
          <p:cNvSpPr/>
          <p:nvPr/>
        </p:nvSpPr>
        <p:spPr>
          <a:xfrm>
            <a:off x="3337560" y="3136392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47288" y="3346704"/>
            <a:ext cx="237744" cy="237744"/>
          </a:xfrm>
          <a:prstGeom prst="ellipse">
            <a:avLst/>
          </a:prstGeom>
          <a:solidFill>
            <a:srgbClr val="039743"/>
          </a:solidFill>
          <a:ln/>
        </p:spPr>
      </p:sp>
      <p:sp>
        <p:nvSpPr>
          <p:cNvPr id="42" name="Text 40"/>
          <p:cNvSpPr/>
          <p:nvPr/>
        </p:nvSpPr>
        <p:spPr>
          <a:xfrm>
            <a:off x="3447288" y="33467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739896" y="313639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Integration</a:t>
            </a:r>
            <a:endParaRPr lang="en-US" sz="1030" dirty="0"/>
          </a:p>
        </p:txBody>
      </p:sp>
      <p:sp>
        <p:nvSpPr>
          <p:cNvPr id="44" name="Shape 42"/>
          <p:cNvSpPr/>
          <p:nvPr/>
        </p:nvSpPr>
        <p:spPr>
          <a:xfrm>
            <a:off x="6126480" y="3136392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36208" y="3346704"/>
            <a:ext cx="237744" cy="237744"/>
          </a:xfrm>
          <a:prstGeom prst="ellipse">
            <a:avLst/>
          </a:prstGeom>
          <a:solidFill>
            <a:srgbClr val="039743"/>
          </a:solidFill>
          <a:ln/>
        </p:spPr>
      </p:sp>
      <p:sp>
        <p:nvSpPr>
          <p:cNvPr id="46" name="Text 44"/>
          <p:cNvSpPr/>
          <p:nvPr/>
        </p:nvSpPr>
        <p:spPr>
          <a:xfrm>
            <a:off x="6236208" y="33467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528816" y="313639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&amp; RBAC</a:t>
            </a:r>
            <a:endParaRPr lang="en-US" sz="1030" dirty="0"/>
          </a:p>
        </p:txBody>
      </p:sp>
      <p:sp>
        <p:nvSpPr>
          <p:cNvPr id="48" name="Shape 46"/>
          <p:cNvSpPr/>
          <p:nvPr/>
        </p:nvSpPr>
        <p:spPr>
          <a:xfrm>
            <a:off x="8915400" y="3136392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025128" y="3346704"/>
            <a:ext cx="237744" cy="237744"/>
          </a:xfrm>
          <a:prstGeom prst="ellipse">
            <a:avLst/>
          </a:prstGeom>
          <a:solidFill>
            <a:srgbClr val="039743"/>
          </a:solidFill>
          <a:ln/>
        </p:spPr>
      </p:sp>
      <p:sp>
        <p:nvSpPr>
          <p:cNvPr id="50" name="Text 48"/>
          <p:cNvSpPr/>
          <p:nvPr/>
        </p:nvSpPr>
        <p:spPr>
          <a:xfrm>
            <a:off x="9025128" y="33467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317736" y="313639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Processing Engine</a:t>
            </a:r>
            <a:endParaRPr lang="en-US" sz="1030" dirty="0"/>
          </a:p>
        </p:txBody>
      </p:sp>
      <p:sp>
        <p:nvSpPr>
          <p:cNvPr id="52" name="Shape 50"/>
          <p:cNvSpPr/>
          <p:nvPr/>
        </p:nvSpPr>
        <p:spPr>
          <a:xfrm>
            <a:off x="548640" y="3904488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8368" y="4114800"/>
            <a:ext cx="237744" cy="237744"/>
          </a:xfrm>
          <a:prstGeom prst="ellipse">
            <a:avLst/>
          </a:prstGeom>
          <a:solidFill>
            <a:srgbClr val="039743"/>
          </a:solidFill>
          <a:ln/>
        </p:spPr>
      </p:sp>
      <p:sp>
        <p:nvSpPr>
          <p:cNvPr id="54" name="Text 52"/>
          <p:cNvSpPr/>
          <p:nvPr/>
        </p:nvSpPr>
        <p:spPr>
          <a:xfrm>
            <a:off x="658368" y="4114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50976" y="390448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030" dirty="0"/>
          </a:p>
        </p:txBody>
      </p:sp>
      <p:sp>
        <p:nvSpPr>
          <p:cNvPr id="56" name="Shape 54"/>
          <p:cNvSpPr/>
          <p:nvPr/>
        </p:nvSpPr>
        <p:spPr>
          <a:xfrm>
            <a:off x="3337560" y="3904488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447288" y="4114800"/>
            <a:ext cx="237744" cy="237744"/>
          </a:xfrm>
          <a:prstGeom prst="ellipse">
            <a:avLst/>
          </a:prstGeom>
          <a:solidFill>
            <a:srgbClr val="039743"/>
          </a:solidFill>
          <a:ln/>
        </p:spPr>
      </p:sp>
      <p:sp>
        <p:nvSpPr>
          <p:cNvPr id="58" name="Text 56"/>
          <p:cNvSpPr/>
          <p:nvPr/>
        </p:nvSpPr>
        <p:spPr>
          <a:xfrm>
            <a:off x="3447288" y="4114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3739896" y="390448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Prediction Model</a:t>
            </a:r>
            <a:endParaRPr lang="en-US" sz="1030" dirty="0"/>
          </a:p>
        </p:txBody>
      </p:sp>
      <p:sp>
        <p:nvSpPr>
          <p:cNvPr id="60" name="Shape 58"/>
          <p:cNvSpPr/>
          <p:nvPr/>
        </p:nvSpPr>
        <p:spPr>
          <a:xfrm>
            <a:off x="6126480" y="3904488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36208" y="4114800"/>
            <a:ext cx="237744" cy="237744"/>
          </a:xfrm>
          <a:prstGeom prst="ellipse">
            <a:avLst/>
          </a:prstGeom>
          <a:solidFill>
            <a:srgbClr val="039743"/>
          </a:solidFill>
          <a:ln/>
        </p:spPr>
      </p:sp>
      <p:sp>
        <p:nvSpPr>
          <p:cNvPr id="62" name="Text 60"/>
          <p:cNvSpPr/>
          <p:nvPr/>
        </p:nvSpPr>
        <p:spPr>
          <a:xfrm>
            <a:off x="6236208" y="4114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528816" y="390448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Source Code</a:t>
            </a:r>
            <a:endParaRPr lang="en-US" sz="1030" dirty="0"/>
          </a:p>
        </p:txBody>
      </p:sp>
      <p:sp>
        <p:nvSpPr>
          <p:cNvPr id="64" name="Shape 62"/>
          <p:cNvSpPr/>
          <p:nvPr/>
        </p:nvSpPr>
        <p:spPr>
          <a:xfrm>
            <a:off x="8915400" y="3904488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025128" y="4114800"/>
            <a:ext cx="237744" cy="237744"/>
          </a:xfrm>
          <a:prstGeom prst="ellipse">
            <a:avLst/>
          </a:prstGeom>
          <a:solidFill>
            <a:srgbClr val="039743"/>
          </a:solidFill>
          <a:ln/>
        </p:spPr>
      </p:sp>
      <p:sp>
        <p:nvSpPr>
          <p:cNvPr id="66" name="Text 64"/>
          <p:cNvSpPr/>
          <p:nvPr/>
        </p:nvSpPr>
        <p:spPr>
          <a:xfrm>
            <a:off x="9025128" y="4114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9317736" y="390448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</a:t>
            </a:r>
            <a:endParaRPr lang="en-US" sz="1030" dirty="0"/>
          </a:p>
        </p:txBody>
      </p:sp>
      <p:sp>
        <p:nvSpPr>
          <p:cNvPr id="68" name="Text 66"/>
          <p:cNvSpPr/>
          <p:nvPr/>
        </p:nvSpPr>
        <p:spPr>
          <a:xfrm>
            <a:off x="548640" y="617220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039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source-code ownership. No vendor lock-in. Freedom to maintain, extend, or engage any third party.</a:t>
            </a:r>
            <a:endParaRPr lang="en-US" sz="1250" dirty="0"/>
          </a:p>
        </p:txBody>
      </p:sp>
      <p:sp>
        <p:nvSpPr>
          <p:cNvPr id="69" name="Text 67"/>
          <p:cNvSpPr/>
          <p:nvPr/>
        </p:nvSpPr>
        <p:spPr>
          <a:xfrm>
            <a:off x="45720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PREPARED FOR INVENTRE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1127729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39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WHY SIDDHRANS INFOTECH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Owned Platform, Not a Rented One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3840480"/>
          </a:xfrm>
          <a:prstGeom prst="roundRect">
            <a:avLst>
              <a:gd name="adj" fmla="val 1905"/>
            </a:avLst>
          </a:prstGeom>
          <a:solidFill>
            <a:srgbClr val="FBF3F1"/>
          </a:solidFill>
          <a:ln w="12700">
            <a:solidFill>
              <a:srgbClr val="F0DA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105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A84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SUBSCRIPTION TRAP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4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2286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every month, forever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4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2880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vendor controls your roadmap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4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3474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cost extra as add-ons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069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4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4069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away means losing everything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663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4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4663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negotiate from weakness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160020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EFF7F2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8105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39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OWNERSHIP MODEL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796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9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22860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investment, no recurring fee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2880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9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28803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Inventre owns the roadmap entirely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37960" y="3474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9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34747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included — nothing gated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4069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9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0" y="40690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is yours to extend, anytime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37960" y="4663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9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46634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negotiate from strength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557784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delivery across ERP, eCommerce, payments and ERP integration for the K-12 school supply ecosystem — with engineering discipline at every handover.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PREPARED FOR INVENTRE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7729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39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Path to Commencement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2476" y="2148840"/>
            <a:ext cx="658368" cy="658368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6" name="Image 0" descr="/home/claude/icons/FaClipboard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064" y="2234428"/>
            <a:ext cx="487192" cy="487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5176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C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971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34290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this proposal at board / executive level and confirm strategic alignment.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37560" y="182880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11396" y="2148840"/>
            <a:ext cx="658368" cy="658368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12" name="Image 1" descr="/home/claude/icons/FaProjectDiagra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6984" y="2234428"/>
            <a:ext cx="487192" cy="4871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C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20440" y="2971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566160" y="34290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live leadership walkthrough of the platform vision and architecture.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82880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00316" y="2148840"/>
            <a:ext cx="658368" cy="658368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18" name="Image 2" descr="/home/claude/icons/FaNetworkWire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5904" y="2234428"/>
            <a:ext cx="487192" cy="4871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C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309360" y="2971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355080" y="34290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infrastructure provisioning and access to existing systems for integration.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915400" y="182880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6F8F6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889236" y="2148840"/>
            <a:ext cx="658368" cy="658368"/>
          </a:xfrm>
          <a:prstGeom prst="ellipse">
            <a:avLst/>
          </a:prstGeom>
          <a:solidFill>
            <a:srgbClr val="039743"/>
          </a:solidFill>
          <a:ln/>
        </p:spPr>
      </p:sp>
      <p:pic>
        <p:nvPicPr>
          <p:cNvPr id="24" name="Image 3" descr="/home/claude/icons/FaHandshak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4824" y="2234428"/>
            <a:ext cx="487192" cy="4871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01852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C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098280" y="2971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9144000" y="34290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commercials and issue a signed Letter of Intent to initiate the engagement.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PREPARED FOR INVENTRE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1127729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1095</Words>
  <Application>Microsoft Office PowerPoint</Application>
  <PresentationFormat>Widescreen</PresentationFormat>
  <Paragraphs>313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Sriramdas Anjani Pradeep</cp:lastModifiedBy>
  <cp:revision>2</cp:revision>
  <dcterms:created xsi:type="dcterms:W3CDTF">2026-07-12T11:02:58Z</dcterms:created>
  <dcterms:modified xsi:type="dcterms:W3CDTF">2026-07-16T05:12:56Z</dcterms:modified>
</cp:coreProperties>
</file>